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4"/>
    <p:sldMasterId id="2147483707" r:id="rId5"/>
    <p:sldMasterId id="2147483719" r:id="rId6"/>
    <p:sldMasterId id="2147483725" r:id="rId7"/>
    <p:sldMasterId id="2147483789" r:id="rId8"/>
  </p:sldMasterIdLst>
  <p:notesMasterIdLst>
    <p:notesMasterId r:id="rId41"/>
  </p:notesMasterIdLst>
  <p:handoutMasterIdLst>
    <p:handoutMasterId r:id="rId42"/>
  </p:handoutMasterIdLst>
  <p:sldIdLst>
    <p:sldId id="256" r:id="rId9"/>
    <p:sldId id="257" r:id="rId10"/>
    <p:sldId id="258" r:id="rId11"/>
    <p:sldId id="259" r:id="rId12"/>
    <p:sldId id="288" r:id="rId13"/>
    <p:sldId id="270" r:id="rId14"/>
    <p:sldId id="271" r:id="rId15"/>
    <p:sldId id="272" r:id="rId16"/>
    <p:sldId id="280" r:id="rId17"/>
    <p:sldId id="273" r:id="rId18"/>
    <p:sldId id="275" r:id="rId19"/>
    <p:sldId id="276" r:id="rId20"/>
    <p:sldId id="260" r:id="rId21"/>
    <p:sldId id="282" r:id="rId22"/>
    <p:sldId id="283" r:id="rId23"/>
    <p:sldId id="284" r:id="rId24"/>
    <p:sldId id="285" r:id="rId25"/>
    <p:sldId id="306" r:id="rId26"/>
    <p:sldId id="307" r:id="rId27"/>
    <p:sldId id="303" r:id="rId28"/>
    <p:sldId id="286" r:id="rId29"/>
    <p:sldId id="294" r:id="rId30"/>
    <p:sldId id="308" r:id="rId31"/>
    <p:sldId id="309" r:id="rId32"/>
    <p:sldId id="310" r:id="rId33"/>
    <p:sldId id="311" r:id="rId34"/>
    <p:sldId id="295" r:id="rId35"/>
    <p:sldId id="296" r:id="rId36"/>
    <p:sldId id="304" r:id="rId37"/>
    <p:sldId id="305" r:id="rId38"/>
    <p:sldId id="312" r:id="rId39"/>
    <p:sldId id="313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ик" id="{AB54A23A-9BEB-4FA5-87FF-3E8577EACE75}">
          <p14:sldIdLst>
            <p14:sldId id="256"/>
          </p14:sldIdLst>
        </p14:section>
        <p14:section name="Введение" id="{EEAB2B53-14A1-4154-855A-BC8507041452}">
          <p14:sldIdLst>
            <p14:sldId id="257"/>
            <p14:sldId id="258"/>
            <p14:sldId id="259"/>
          </p14:sldIdLst>
        </p14:section>
        <p14:section name="Концептуальное проектирование системы" id="{310B0359-B7FE-4907-94D8-55853094578C}">
          <p14:sldIdLst>
            <p14:sldId id="288"/>
          </p14:sldIdLst>
        </p14:section>
        <p14:section name="Выбор технологий" id="{1808E24A-9472-4442-8E0C-14584D26EA89}">
          <p14:sldIdLst>
            <p14:sldId id="270"/>
            <p14:sldId id="271"/>
            <p14:sldId id="272"/>
            <p14:sldId id="280"/>
            <p14:sldId id="273"/>
            <p14:sldId id="275"/>
            <p14:sldId id="276"/>
            <p14:sldId id="260"/>
          </p14:sldIdLst>
        </p14:section>
        <p14:section name="Проектирование системы" id="{0B3484A4-67FA-4BD1-97D5-C63A5560CFCE}">
          <p14:sldIdLst>
            <p14:sldId id="282"/>
            <p14:sldId id="283"/>
            <p14:sldId id="284"/>
            <p14:sldId id="285"/>
            <p14:sldId id="306"/>
            <p14:sldId id="307"/>
            <p14:sldId id="303"/>
            <p14:sldId id="286"/>
            <p14:sldId id="294"/>
            <p14:sldId id="308"/>
            <p14:sldId id="309"/>
            <p14:sldId id="310"/>
            <p14:sldId id="311"/>
            <p14:sldId id="295"/>
            <p14:sldId id="296"/>
          </p14:sldIdLst>
        </p14:section>
        <p14:section name="Реализация" id="{ADBBD32B-5CCF-420B-9751-641D47ABD6D9}">
          <p14:sldIdLst>
            <p14:sldId id="304"/>
            <p14:sldId id="305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664" autoAdjust="0"/>
  </p:normalViewPr>
  <p:slideViewPr>
    <p:cSldViewPr snapToGrid="0">
      <p:cViewPr varScale="1">
        <p:scale>
          <a:sx n="97" d="100"/>
          <a:sy n="97" d="100"/>
        </p:scale>
        <p:origin x="1056" y="9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-1938"/>
    </p:cViewPr>
  </p:sorterViewPr>
  <p:notesViewPr>
    <p:cSldViewPr snapToGrid="0">
      <p:cViewPr>
        <p:scale>
          <a:sx n="75" d="100"/>
          <a:sy n="75" d="100"/>
        </p:scale>
        <p:origin x="4032" y="3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commentAuthors" Target="commentAuthors.xml"/><Relationship Id="rId48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theme" Target="theme/theme1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C48FB7-4632-4FB7-A822-C8EE7A1BCE57}" type="datetime1">
              <a:rPr lang="ru-RU" smtClean="0"/>
              <a:t>23.06.2024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7D626-816E-4770-8022-B9B504B09470}" type="datetime1">
              <a:rPr lang="ru-RU" smtClean="0"/>
              <a:pPr/>
              <a:t>23.06.2024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Дана сложная технологическая система. К данной системе подключены множество датчиков фиксирующих состояние отдельных частей этой системы. Требуется построить предиктивную систему на базе технологий глубокого обучения, позволяющую в произвольный момент времени оценить состояние технологической системы на предмет выхода из строя.</a:t>
            </a:r>
          </a:p>
          <a:p>
            <a:r>
              <a:rPr lang="ru-RU" noProof="0" dirty="0"/>
              <a:t>Моя часть:</a:t>
            </a:r>
          </a:p>
          <a:p>
            <a:r>
              <a:rPr lang="ru-RU" noProof="0" dirty="0"/>
              <a:t>Мне необходимо автоматизировать процесс получения данных, отчистки данных, обучения модели, валидации модели и получения предсказанных моделью результатов. Скрипты отчистки данных, обучения и валидации модели даны в виде </a:t>
            </a:r>
            <a:r>
              <a:rPr lang="en-US" noProof="0" dirty="0"/>
              <a:t>Python Package</a:t>
            </a:r>
            <a:r>
              <a:rPr lang="ru-RU" noProof="0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5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Зачем:</a:t>
            </a:r>
          </a:p>
          <a:p>
            <a:pPr marL="228600" indent="-228600">
              <a:buAutoNum type="arabicParenR"/>
            </a:pPr>
            <a:r>
              <a:rPr lang="ru-RU" dirty="0"/>
              <a:t>Постоянная обработка поступающих данных</a:t>
            </a:r>
          </a:p>
          <a:p>
            <a:pPr marL="228600" indent="-228600">
              <a:buAutoNum type="arabicParenR"/>
            </a:pPr>
            <a:r>
              <a:rPr lang="ru-RU" dirty="0"/>
              <a:t>Поддержание актуальности предиктивной модели</a:t>
            </a:r>
          </a:p>
          <a:p>
            <a:pPr marL="228600" indent="-228600">
              <a:buAutoNum type="arabicParenR"/>
            </a:pPr>
            <a:r>
              <a:rPr lang="ru-RU" dirty="0" err="1"/>
              <a:t>Инференс</a:t>
            </a:r>
            <a:r>
              <a:rPr lang="ru-RU" dirty="0"/>
              <a:t>. Получение результата посредством веб сервиса (доступ по </a:t>
            </a:r>
            <a:r>
              <a:rPr lang="en-US" dirty="0"/>
              <a:t>http,</a:t>
            </a:r>
            <a:r>
              <a:rPr lang="ru-RU" dirty="0"/>
              <a:t> представление результатов с использованием стандартизированных протоколов) в отсутствии необходимости</a:t>
            </a:r>
            <a:r>
              <a:rPr lang="en-US" dirty="0"/>
              <a:t> 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непосредственного </a:t>
            </a:r>
            <a:r>
              <a:rPr lang="ru-RU" dirty="0"/>
              <a:t>доступа к модели</a:t>
            </a:r>
          </a:p>
          <a:p>
            <a:pPr marL="228600" indent="-228600">
              <a:buAutoNum type="arabicParenR"/>
            </a:pPr>
            <a:r>
              <a:rPr lang="ru-RU" dirty="0"/>
              <a:t>Современный подход к разработке и организации сложных систем (</a:t>
            </a:r>
            <a:r>
              <a:rPr lang="en-US" dirty="0" err="1"/>
              <a:t>mlOps</a:t>
            </a:r>
            <a:r>
              <a:rPr lang="en-US" dirty="0"/>
              <a:t>, </a:t>
            </a:r>
            <a:r>
              <a:rPr lang="en-US" dirty="0" err="1"/>
              <a:t>devOps</a:t>
            </a:r>
            <a:r>
              <a:rPr lang="en-US" dirty="0"/>
              <a:t> </a:t>
            </a:r>
            <a:r>
              <a:rPr lang="ru-RU" dirty="0"/>
              <a:t>и т.д.)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228600" indent="-228600">
              <a:buAutoNum type="arabicParenR"/>
            </a:pPr>
            <a:endParaRPr lang="ru-RU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 err="1"/>
              <a:t>Инференс</a:t>
            </a:r>
            <a:r>
              <a:rPr lang="ru-RU" b="1" dirty="0"/>
              <a:t> - </a:t>
            </a:r>
            <a:r>
              <a:rPr lang="ru-RU" b="1" dirty="0">
                <a:solidFill>
                  <a:srgbClr val="212830"/>
                </a:solidFill>
                <a:effectLst/>
              </a:rPr>
              <a:t>Процесс исполнения обученных моделей машинного обучения для получения предсказаний на данных, поданных на вход модели</a:t>
            </a:r>
          </a:p>
          <a:p>
            <a:pPr marL="0" indent="0">
              <a:buNone/>
            </a:pPr>
            <a:endParaRPr lang="ru-RU" dirty="0"/>
          </a:p>
          <a:p>
            <a:pPr marL="228600" indent="-228600">
              <a:buAutoNum type="arabicParenR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12110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Упрощение работы системного инженера</a:t>
            </a:r>
            <a:r>
              <a:rPr lang="en-US" dirty="0"/>
              <a:t>, </a:t>
            </a:r>
            <a:r>
              <a:rPr lang="ru-RU" dirty="0"/>
              <a:t>снижение влияния человеческого фактора и удешевление </a:t>
            </a:r>
            <a:r>
              <a:rPr lang="ru-RU" b="0" dirty="0"/>
              <a:t>проекта с помощью автоматизации процессов получения данных, обучения модели, валидации модели и т.д.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4344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Требования к сервису: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использовать брокер сообщений для организации передачи новых тестовых данных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;</a:t>
            </a: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производить тестирование основных функций брокера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;</a:t>
            </a: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для хранения данных использовать технологию 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Lake (S3);</a:t>
            </a: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сервис должен производить периодический запуск процессов переобучения и валидации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;</a:t>
            </a: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сервис должен выводить пользователю срок службы технического оборудования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;</a:t>
            </a: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сервис должен быть развернут с использованием 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Docker-</a:t>
            </a: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контейнеров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;</a:t>
            </a: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для функционирования сервиса требуется 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GPU.</a:t>
            </a: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Постановка задачи ДНК: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Поскольку реально </a:t>
            </a:r>
            <a:r>
              <a:rPr lang="ru-RU" sz="12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функц</a:t>
            </a: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датчиков нет, требуется эмулировать поступление данных от них с помощью </a:t>
            </a:r>
            <a:r>
              <a:rPr lang="ru-RU" sz="12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самописного</a:t>
            </a: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скрипта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Данные представляют из себя значения датчиков одного двигателя за промежуток времени. Данные с датчиков берутся из </a:t>
            </a:r>
            <a:r>
              <a:rPr lang="ru-RU" sz="12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датасета</a:t>
            </a: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“Nasa </a:t>
            </a:r>
            <a:r>
              <a:rPr lang="en-US" sz="12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trurbofans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”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Программная система должна получить данные, преобразовать в формат 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json </a:t>
            </a: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 сохранить в хранилище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Программная система должна периодически вызывать скрипты для обработки данных, до обучения модели на новых данных и ее валидации.</a:t>
            </a:r>
          </a:p>
          <a:p>
            <a:pPr marL="228600" indent="-228600">
              <a:buFont typeface="Arial" panose="020B0604020202020204" pitchFamily="34" charset="0"/>
              <a:buAutoNum type="arabicParenR"/>
            </a:pP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Программная система должна представлять результаты предсказания по модели посредством </a:t>
            </a:r>
            <a:r>
              <a:rPr lang="en-US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web-</a:t>
            </a:r>
            <a:r>
              <a:rPr lang="ru-RU" sz="1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сервиса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sz="1800" dirty="0"/>
              <a:t>Сказать про этапы решения задачи!!!!!!!!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 err="1"/>
              <a:t>ывЫВ</a:t>
            </a:r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99151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Глава – Концептуальное проектирование системы</a:t>
            </a:r>
          </a:p>
          <a:p>
            <a:pPr marL="228600" indent="-228600">
              <a:buAutoNum type="arabicParenR"/>
            </a:pPr>
            <a:r>
              <a:rPr lang="ru-RU" dirty="0"/>
              <a:t>Из каких частей будет состоять</a:t>
            </a:r>
          </a:p>
          <a:p>
            <a:pPr marL="228600" indent="-228600">
              <a:buAutoNum type="arabicParenR"/>
            </a:pPr>
            <a:r>
              <a:rPr lang="ru-RU" dirty="0"/>
              <a:t>Какие технологии в себя включает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228600" indent="-228600">
              <a:buAutoNum type="arabicParenR"/>
            </a:pPr>
            <a:endParaRPr lang="ru-RU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(1)</a:t>
            </a:r>
          </a:p>
          <a:p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Организация передачи новых тестовых данных.</a:t>
            </a:r>
          </a:p>
          <a:p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Для этого будет использоваться такой инструмент как брокер сообщений (в данном случае </a:t>
            </a:r>
            <a:r>
              <a:rPr lang="ru-RU" sz="12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RabbitMQ</a:t>
            </a: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). Он будет получать нужные данные, направлять в очередь и затем, по запросу, освобождать данные из очереди и направлять дальше. Это позволит организованно и бесперебойно передавать данные в больших количествах.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(2)</a:t>
            </a:r>
          </a:p>
          <a:p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Помещение данных в общее хранилище, переобучение и валидация на этих данных готовых моделей нейронных сетей и организация мониторинга каждого этапа системы.</a:t>
            </a:r>
          </a:p>
          <a:p>
            <a:r>
              <a:rPr lang="ru-RU" sz="11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Для хранения данных будет использоваться технология Data </a:t>
            </a:r>
            <a:r>
              <a:rPr lang="ru-RU" sz="11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Lake</a:t>
            </a:r>
            <a:r>
              <a:rPr lang="ru-RU" sz="11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(S3) а для периодического запуска процесса переобучения и валидации поможет технология </a:t>
            </a:r>
            <a:r>
              <a:rPr lang="ru-RU" sz="11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Airflow</a:t>
            </a:r>
            <a:endParaRPr lang="ru-RU" sz="11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endParaRPr lang="ru-RU" sz="11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r>
              <a:rPr lang="ru-RU" sz="11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(3)</a:t>
            </a:r>
          </a:p>
          <a:p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Реализация веб-сервиса с помощью технологии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FastAPI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solidFill>
                  <a:prstClr val="black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Простейший сервис для более удобной работы пользователя с результатами нейронной сети.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endParaRPr lang="ru-RU" dirty="0"/>
          </a:p>
          <a:p>
            <a:pPr marL="228600" indent="-228600">
              <a:buAutoNum type="arabicParenR"/>
            </a:pPr>
            <a:endParaRPr lang="ru-RU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1 картинка!!!!! Вместо тысячи слов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Показать модули и их связь с внешним миром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2921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6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749682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 проекте выбран асинхронный способ отправки сообщений, а конкретно брокер сообщений, так как ключевым фактором является отказоустойчивость и высокая пропускная способность, а высокая задержка не критична обязателен.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84332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Так же, от части, выбор 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RabbitMQ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был произведен из-за личных предпочтений, так как, в отличие от 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Kafka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был мной предварительно изучен при проектировании другого проекта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i="0" dirty="0"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Для нашей задачи пропускной способности </a:t>
            </a:r>
            <a:r>
              <a:rPr lang="en-US" sz="1050" b="1" i="0" dirty="0"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Rabbit </a:t>
            </a:r>
            <a:r>
              <a:rPr lang="ru-RU" sz="1050" b="1" i="0" dirty="0"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достаточно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500422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Для проекта было выбрано объектное хранилище, так как оно хорошо подходит для хранения большого объема сырых данных, устойчиво к росту объема данных и хорошо адаптируется к любым изменениям структуры данных.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9891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05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Основными причинами выбора </a:t>
            </a:r>
            <a:r>
              <a:rPr lang="en-US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Airflow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, помимо таблицы, были: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наиболее детальный уровень контроля</a:t>
            </a:r>
            <a:r>
              <a:rPr lang="en-US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1050" b="1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широкий и удобный пользовательский интерфейс для мониторинга</a:t>
            </a:r>
            <a:r>
              <a:rPr lang="en-US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1050" b="1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простота развертывания</a:t>
            </a:r>
            <a:r>
              <a:rPr lang="en-US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1050" b="1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</a:p>
          <a:p>
            <a:pPr lvl="1"/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В купе с опытом работы с </a:t>
            </a:r>
            <a:r>
              <a:rPr lang="en-US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Airflow </a:t>
            </a:r>
            <a:r>
              <a:rPr lang="ru-RU" sz="105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вполне очевидно, что выбор будет сделан именной в пользу этого инструмента.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30479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19488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Сайт - 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https://tproger.ru/articles/obzornyj-analiz-python-veb-frejmvorkov</a:t>
            </a:r>
            <a:endParaRPr lang="ru-RU" sz="1050" b="1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Inter"/>
              </a:rPr>
              <a:t>Минусы 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Inter"/>
              </a:rPr>
              <a:t>Django</a:t>
            </a:r>
            <a:r>
              <a:rPr lang="ru-RU" sz="1400" b="1" i="0" dirty="0">
                <a:solidFill>
                  <a:srgbClr val="000000"/>
                </a:solidFill>
                <a:effectLst/>
                <a:latin typeface="Inter"/>
              </a:rPr>
              <a:t>:</a:t>
            </a:r>
          </a:p>
          <a:p>
            <a:pPr algn="l"/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Для небольших проектов функционал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Django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 избыточен, но в то же время возможности асинхронности в нём весьма ограничены. Поэтому для работы с легкими или асинхронными проектами предпочитают использовать другие фреймворки. Многие встроенные модули достаточно тяжело заменить — админ-панель не всегда легко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кастомизировать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, а про ORM я уже упоминал. И она, кстати, значительно уступает по гибкости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SQLAlchemy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.</a:t>
            </a:r>
          </a:p>
          <a:p>
            <a:pPr algn="l"/>
            <a:endParaRPr lang="ru-RU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Inter"/>
              </a:rPr>
              <a:t>Минусы 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Inter"/>
              </a:rPr>
              <a:t>Flask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:</a:t>
            </a:r>
          </a:p>
          <a:p>
            <a:pPr algn="l"/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Несмотря на все плюсы и простоту фреймворка, он остаётся всего лишь ядром, которое зависит от двух внешних библиотек (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Jinja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 и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Werkzeug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) и к которому прикрепляются сторонние инструменты.</a:t>
            </a:r>
          </a:p>
          <a:p>
            <a:pPr algn="l"/>
            <a:endParaRPr lang="ru-RU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/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Flask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 — песочница для программистов, где можно отточить свои навыки и протестировать решение с помощью нового модуля или библиотеки. Из этого достоинства фреймворка следует и его минус — структура и логика проекта полностью зависят от разработчика, работавшего над проектом.</a:t>
            </a:r>
          </a:p>
          <a:p>
            <a:pPr algn="l"/>
            <a:endParaRPr lang="ru-RU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Inter"/>
              </a:rPr>
              <a:t>Минусы 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Inter"/>
              </a:rPr>
              <a:t>FastAPI</a:t>
            </a:r>
            <a:endParaRPr lang="ru-RU" sz="1400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l"/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Пожалуй, достаточно небольшое сообщество и не самые простые настройки для корректно работы приложения. А в тандеме это даёт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повышеный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 порог входа в технологию, с которой новичку будет не так просто разобраться (учтём ещё и асинхронность фреймворка).</a:t>
            </a:r>
          </a:p>
          <a:p>
            <a:pPr algn="l"/>
            <a:endParaRPr lang="ru-RU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i="0" dirty="0">
                <a:solidFill>
                  <a:srgbClr val="000000"/>
                </a:solidFill>
                <a:effectLst/>
                <a:latin typeface="Inter"/>
              </a:rPr>
              <a:t>Минусы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en-US" sz="2000" b="1" i="0" dirty="0" err="1">
                <a:solidFill>
                  <a:srgbClr val="000000"/>
                </a:solidFill>
                <a:effectLst/>
                <a:latin typeface="Inter"/>
              </a:rPr>
              <a:t>Aiohttp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Inter"/>
              </a:rPr>
              <a:t>:</a:t>
            </a:r>
            <a:endParaRPr lang="ru-RU" sz="14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/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Скудная документация, хоть она и имеет примеры выполнения некоторых задач. Например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сокращатель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 ссылок, клон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твиттера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, чат, и так далее. Также, разработчику, особенно начинающему, будет достаточно трудно найти ответ на вопрос, который может возникнуть при работе с </a:t>
            </a:r>
            <a:r>
              <a:rPr lang="ru-RU" sz="1400" b="0" i="0" dirty="0" err="1">
                <a:solidFill>
                  <a:srgbClr val="000000"/>
                </a:solidFill>
                <a:effectLst/>
                <a:latin typeface="Inter"/>
              </a:rPr>
              <a:t>Aiohttp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Inter"/>
              </a:rPr>
              <a:t>.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6661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Добавить в стек технологий технологии для мониторинга</a:t>
            </a:r>
            <a:r>
              <a:rPr lang="en-US" dirty="0"/>
              <a:t>:</a:t>
            </a:r>
          </a:p>
          <a:p>
            <a:pPr marL="228600" indent="-228600">
              <a:buAutoNum type="arabicParenR"/>
            </a:pPr>
            <a:r>
              <a:rPr lang="en-US" dirty="0"/>
              <a:t>Prometheus</a:t>
            </a:r>
          </a:p>
          <a:p>
            <a:pPr marL="228600" indent="-228600">
              <a:buAutoNum type="arabicParenR"/>
            </a:pPr>
            <a:r>
              <a:rPr lang="ru-RU" dirty="0"/>
              <a:t>И т.д.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Глава – Концептуальное проектирование системы</a:t>
            </a:r>
          </a:p>
          <a:p>
            <a:pPr marL="228600" indent="-228600">
              <a:buAutoNum type="arabicParenR"/>
            </a:pPr>
            <a:r>
              <a:rPr lang="ru-RU" dirty="0"/>
              <a:t>Из каких частей будет состоять</a:t>
            </a:r>
          </a:p>
          <a:p>
            <a:pPr marL="228600" indent="-228600">
              <a:buAutoNum type="arabicParenR"/>
            </a:pPr>
            <a:r>
              <a:rPr lang="ru-RU" dirty="0"/>
              <a:t>Какие технологии в себя включает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Глава - Выбор технологий:</a:t>
            </a:r>
          </a:p>
          <a:p>
            <a:pPr marL="228600" indent="-228600">
              <a:buAutoNum type="arabicParenR"/>
            </a:pPr>
            <a:r>
              <a:rPr lang="ru-RU" dirty="0"/>
              <a:t>Что выбрал (Сравнительный анализ)</a:t>
            </a:r>
          </a:p>
          <a:p>
            <a:pPr marL="228600" indent="-228600">
              <a:buAutoNum type="arabicParenR"/>
            </a:pPr>
            <a:r>
              <a:rPr lang="ru-RU" dirty="0"/>
              <a:t>Почему</a:t>
            </a:r>
          </a:p>
          <a:p>
            <a:pPr marL="228600" indent="-228600">
              <a:buAutoNum type="arabicParenR"/>
            </a:pPr>
            <a:endParaRPr lang="ru-RU" dirty="0"/>
          </a:p>
          <a:p>
            <a:pPr marL="228600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Глава – Проектирование системы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Сюда наша картинка</a:t>
            </a:r>
          </a:p>
          <a:p>
            <a:pPr marL="0" indent="0">
              <a:buNone/>
            </a:pPr>
            <a:r>
              <a:rPr lang="ru-RU" dirty="0"/>
              <a:t>Показать где моя часть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UML </a:t>
            </a:r>
            <a:r>
              <a:rPr lang="ru-RU" dirty="0"/>
              <a:t>для модулей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Реббит</a:t>
            </a:r>
            <a:r>
              <a:rPr lang="ru-RU" dirty="0"/>
              <a:t>: (все части)</a:t>
            </a:r>
          </a:p>
          <a:p>
            <a:pPr marL="228600" indent="-228600">
              <a:buAutoNum type="arabicParenR"/>
            </a:pPr>
            <a:r>
              <a:rPr lang="ru-RU" dirty="0"/>
              <a:t>3 </a:t>
            </a:r>
            <a:r>
              <a:rPr lang="ru-RU" dirty="0" err="1"/>
              <a:t>прод</a:t>
            </a:r>
            <a:r>
              <a:rPr lang="ru-RU" dirty="0"/>
              <a:t> 2 </a:t>
            </a:r>
            <a:r>
              <a:rPr lang="ru-RU" dirty="0" err="1"/>
              <a:t>консюм</a:t>
            </a:r>
            <a:r>
              <a:rPr lang="ru-RU" dirty="0"/>
              <a:t> (Диаграмма последовательности)</a:t>
            </a:r>
          </a:p>
          <a:p>
            <a:pPr marL="228600" indent="-228600">
              <a:buAutoNum type="arabicParenR"/>
            </a:pPr>
            <a:r>
              <a:rPr lang="en-US" dirty="0"/>
              <a:t>Use case </a:t>
            </a:r>
            <a:r>
              <a:rPr lang="ru-RU" dirty="0"/>
              <a:t>диаграмма</a:t>
            </a:r>
          </a:p>
          <a:p>
            <a:pPr marL="228600" indent="-228600">
              <a:buAutoNum type="arabicParenR"/>
            </a:pPr>
            <a:r>
              <a:rPr lang="ru-RU" dirty="0"/>
              <a:t>Диаграммы классов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Глава – Реализация  ??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Блок схемы Алгоритмов</a:t>
            </a:r>
          </a:p>
          <a:p>
            <a:pPr marL="0" indent="0">
              <a:buNone/>
            </a:pPr>
            <a:r>
              <a:rPr lang="ru-RU" dirty="0"/>
              <a:t>Результат:</a:t>
            </a:r>
          </a:p>
          <a:p>
            <a:pPr marL="0" indent="0">
              <a:buNone/>
            </a:pPr>
            <a:r>
              <a:rPr lang="ru-RU" dirty="0"/>
              <a:t>Несколько скринов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95056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94528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24478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16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78520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 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80909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68585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19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561495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 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6753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54439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37984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179703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9622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25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90731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ПРОЕКТИРОВАНИЕ РЕСТ АПИ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26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723245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00898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40969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29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561746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30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222520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31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910915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Надежность часто путают с 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персистентностью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и, хотя эти два термина взаимозаменяемы, они выполняют разные функции. </a:t>
            </a:r>
          </a:p>
          <a:p>
            <a:pPr marL="457200" lvl="1" indent="0">
              <a:buNone/>
            </a:pPr>
            <a:r>
              <a:rPr lang="ru-RU" b="1" i="0" dirty="0" err="1">
                <a:solidFill>
                  <a:srgbClr val="333333"/>
                </a:solidFill>
                <a:effectLst/>
                <a:latin typeface="-apple-system"/>
              </a:rPr>
              <a:t>Персистентность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определяет, записывает ли сообщение система обмена сообщениями в какого-либо рода хранилище между получением и отправкой его потребителю.</a:t>
            </a: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 </a:t>
            </a:r>
            <a:r>
              <a:rPr lang="ru-RU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Основными критерием выбора, помимо таблицы, были наиболее детальный уровень контроля, широкий и удобный пользовательский интерфейс для мониторинга, простота развертывания и высокий уровень расширяемости</a:t>
            </a:r>
            <a:r>
              <a:rPr lang="en-US" sz="105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###</a:t>
            </a:r>
            <a:endParaRPr lang="ru-RU" sz="1050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457200" lvl="1" indent="0">
              <a:buNone/>
            </a:pPr>
            <a:r>
              <a:rPr lang="ru-RU" dirty="0" err="1"/>
              <a:t>Протектед</a:t>
            </a:r>
            <a:r>
              <a:rPr lang="ru-RU" dirty="0"/>
              <a:t> *</a:t>
            </a:r>
          </a:p>
          <a:p>
            <a:pPr marL="457200" lvl="1" indent="0">
              <a:buNone/>
            </a:pPr>
            <a:r>
              <a:rPr lang="ru-RU" dirty="0" err="1"/>
              <a:t>Прайват</a:t>
            </a:r>
            <a:r>
              <a:rPr lang="ru-RU" dirty="0"/>
              <a:t> -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Организация поступления данных:</a:t>
            </a:r>
          </a:p>
          <a:p>
            <a:pPr marL="685800" lvl="1" indent="-228600">
              <a:buAutoNum type="arabicParenR"/>
            </a:pPr>
            <a:r>
              <a:rPr lang="en-US" dirty="0"/>
              <a:t>Web </a:t>
            </a:r>
            <a:r>
              <a:rPr lang="ru-RU" dirty="0"/>
              <a:t>сервис</a:t>
            </a:r>
          </a:p>
          <a:p>
            <a:pPr marL="685800" lvl="1" indent="-228600">
              <a:buAutoNum type="arabicParenR"/>
            </a:pPr>
            <a:r>
              <a:rPr lang="ru-RU" dirty="0"/>
              <a:t>Брокер</a:t>
            </a:r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457200" lvl="1" indent="0">
              <a:buNone/>
            </a:pPr>
            <a:r>
              <a:rPr lang="ru-RU" dirty="0"/>
              <a:t>Упомянуть про пропускную способность и задержку!!!</a:t>
            </a:r>
          </a:p>
          <a:p>
            <a:pPr marL="457200" lvl="1" indent="0">
              <a:buNone/>
            </a:pPr>
            <a:r>
              <a:rPr lang="ru-RU" dirty="0"/>
              <a:t>Что важнее для меня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планировщика для запуска задач (У меня </a:t>
            </a:r>
            <a:r>
              <a:rPr lang="en-US" dirty="0"/>
              <a:t>Airflow)</a:t>
            </a:r>
          </a:p>
          <a:p>
            <a:pPr marL="685800" lvl="1" indent="-228600">
              <a:buAutoNum type="arabicParenR"/>
            </a:pPr>
            <a:r>
              <a:rPr lang="en-US" dirty="0"/>
              <a:t>Cron</a:t>
            </a:r>
          </a:p>
          <a:p>
            <a:pPr marL="685800" lvl="1" indent="-228600">
              <a:buAutoNum type="arabicParenR"/>
            </a:pPr>
            <a:r>
              <a:rPr lang="en-US" dirty="0"/>
              <a:t>Airflow</a:t>
            </a:r>
          </a:p>
          <a:p>
            <a:pPr marL="685800" lvl="1" indent="-228600">
              <a:buAutoNum type="arabicParenR"/>
            </a:pPr>
            <a:r>
              <a:rPr lang="en-US" dirty="0" err="1"/>
              <a:t>Dagster</a:t>
            </a:r>
            <a:r>
              <a:rPr lang="en-US" dirty="0"/>
              <a:t> (</a:t>
            </a:r>
            <a:r>
              <a:rPr lang="ru-RU" dirty="0"/>
              <a:t>или как там)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ru-RU" dirty="0"/>
              <a:t>И т.д.</a:t>
            </a:r>
          </a:p>
          <a:p>
            <a:pPr marL="685800" lvl="1" indent="-228600">
              <a:buAutoNum type="arabicParenR"/>
            </a:pPr>
            <a:endParaRPr lang="ru-RU" dirty="0"/>
          </a:p>
          <a:p>
            <a:pPr marL="685800" lvl="1" indent="-228600">
              <a:buAutoNum type="arabicParenR"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Выбор технологии организации </a:t>
            </a:r>
            <a:r>
              <a:rPr lang="en-US" dirty="0"/>
              <a:t>web-</a:t>
            </a:r>
            <a:r>
              <a:rPr lang="ru-RU" dirty="0"/>
              <a:t>сервиса (</a:t>
            </a:r>
            <a:r>
              <a:rPr lang="en-US" dirty="0" err="1"/>
              <a:t>FastAPI</a:t>
            </a:r>
            <a:r>
              <a:rPr lang="en-US" dirty="0"/>
              <a:t>):</a:t>
            </a:r>
          </a:p>
          <a:p>
            <a:pPr marL="457200" lvl="1" indent="0">
              <a:buNone/>
            </a:pPr>
            <a:r>
              <a:rPr lang="en-US" dirty="0"/>
              <a:t>1) 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Эффективнее всего все разворачивать</a:t>
            </a:r>
            <a:r>
              <a:rPr lang="en-US" dirty="0"/>
              <a:t> Docker</a:t>
            </a:r>
            <a:r>
              <a:rPr lang="ru-RU" dirty="0"/>
              <a:t>, так как….. (</a:t>
            </a:r>
            <a:r>
              <a:rPr lang="ru-RU" dirty="0" err="1"/>
              <a:t>Кубернетис</a:t>
            </a:r>
            <a:r>
              <a:rPr lang="ru-RU" dirty="0"/>
              <a:t> убрать)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noProof="0" smtClean="0"/>
              <a:t>32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99846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025444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12192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623392" y="2276872"/>
            <a:ext cx="109728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4130811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63" y="0"/>
            <a:ext cx="10032437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831637" y="1268760"/>
            <a:ext cx="8750763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845429" y="1844825"/>
            <a:ext cx="8750763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96471252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7034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Повестка дн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2677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1" name="Текст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2" name="Текст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3" name="Текст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4" name="Текст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3" name="Текст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2 столбц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3" name="Текст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6" name="Текст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Дата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8" name="Нижний колонтитул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ыночное 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Объект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27" name="Объект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20" name="Текст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Текст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8" name="Текст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1" name="Дата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0" name="Текст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2" name="Текст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3" name="Текст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4" name="Текст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5" name="Текст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7" name="Текст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8" name="Текст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9" name="Текст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6" name="Дата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37" name="Нижний колонтитул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38" name="Номер слайда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графического элемента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графический элемент SmartArt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содержимо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  <a:prstGeom prst="rect">
            <a:avLst/>
          </a:prstGeo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4" name="Объект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  <a:prstGeom prst="rect">
            <a:avLst/>
          </a:prstGeo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5" name="Объект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  <a:prstGeom prst="rect">
            <a:avLst/>
          </a:prstGeo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  <a:prstGeom prst="rect">
            <a:avLst/>
          </a:prstGeo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  <a:prstGeom prst="rect">
            <a:avLst/>
          </a:prstGeo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87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55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479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525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67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52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30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79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746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869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72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28643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12192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623392" y="2276872"/>
            <a:ext cx="109728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05018291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63" y="0"/>
            <a:ext cx="10032437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831637" y="1268760"/>
            <a:ext cx="8750763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845429" y="1844825"/>
            <a:ext cx="8750763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84781693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808512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Повестка дн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420710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94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417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739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748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09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55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88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42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81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59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062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575304"/>
            <a:ext cx="9921943" cy="86201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976CD4A8-8154-0AA2-A2AB-9AD82CD7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3" y="128907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3141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A96-E1BB-4C8F-80B2-32A47A48A9D5}" type="datetimeFigureOut">
              <a:rPr lang="ru-RU" smtClean="0"/>
              <a:pPr/>
              <a:t>23.06.2024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46017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6025"/>
      </p:ext>
    </p:extLst>
  </p:cSld>
  <p:clrMapOvr>
    <a:masterClrMapping/>
  </p:clrMapOvr>
  <p:hf hd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A96-E1BB-4C8F-80B2-32A47A48A9D5}" type="datetimeFigureOut">
              <a:rPr lang="ru-RU" smtClean="0"/>
              <a:pPr/>
              <a:t>23.06.2024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690" y="1463040"/>
            <a:ext cx="5330952" cy="46017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58331"/>
      </p:ext>
    </p:extLst>
  </p:cSld>
  <p:clrMapOvr>
    <a:masterClrMapping/>
  </p:clrMapOvr>
  <p:hf hd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48A96-E1BB-4C8F-80B2-32A47A48A9D5}" type="datetimeFigureOut">
              <a:rPr lang="ru-RU" smtClean="0"/>
              <a:pPr/>
              <a:t>23.06.2024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08126"/>
      </p:ext>
    </p:extLst>
  </p:cSld>
  <p:clrMapOvr>
    <a:masterClrMapping/>
  </p:clrMapOvr>
  <p:hf hd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14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altLang="zh-CN"/>
              <a:t>Образец подзаголовка</a:t>
            </a:r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DC07-4FC8-460F-80A1-60CCD9BB83D0}" type="slidenum">
              <a:rPr lang="es-ES" altLang="en-US" smtClean="0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785393599"/>
      </p:ext>
    </p:extLst>
  </p:cSld>
  <p:clrMapOvr>
    <a:masterClrMapping/>
  </p:clrMapOvr>
  <p:hf hd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DC07-4FC8-460F-80A1-60CCD9BB83D0}" type="slidenum">
              <a:rPr lang="es-ES" altLang="en-US" smtClean="0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59609284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15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688" r:id="rId6"/>
    <p:sldLayoutId id="2147483694" r:id="rId7"/>
    <p:sldLayoutId id="2147483673" r:id="rId8"/>
    <p:sldLayoutId id="2147483676" r:id="rId9"/>
    <p:sldLayoutId id="2147483699" r:id="rId10"/>
    <p:sldLayoutId id="2147483700" r:id="rId11"/>
    <p:sldLayoutId id="2147483692" r:id="rId12"/>
    <p:sldLayoutId id="2147483681" r:id="rId13"/>
    <p:sldLayoutId id="2147483696" r:id="rId14"/>
  </p:sldLayoutIdLst>
  <p:hf hdr="0"/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0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57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</p:sldLayoutIdLst>
  <p:hf hdr="0"/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9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056" y="1447800"/>
            <a:ext cx="1121054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099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042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F39A1B-8AD1-2C34-AB40-00704468E828}"/>
              </a:ext>
            </a:extLst>
          </p:cNvPr>
          <p:cNvCxnSpPr>
            <a:cxnSpLocks/>
          </p:cNvCxnSpPr>
          <p:nvPr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39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2">
              <a:lumMod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Tx/>
        <a:buNone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283464" indent="-283464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>
          <p15:clr>
            <a:srgbClr val="F26B43"/>
          </p15:clr>
        </p15:guide>
        <p15:guide id="2" pos="336">
          <p15:clr>
            <a:srgbClr val="F26B43"/>
          </p15:clr>
        </p15:guide>
        <p15:guide id="3" pos="7320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orient="horz" pos="264">
          <p15:clr>
            <a:srgbClr val="F26B43"/>
          </p15:clr>
        </p15:guide>
        <p15:guide id="6" orient="horz" pos="696">
          <p15:clr>
            <a:srgbClr val="F26B43"/>
          </p15:clr>
        </p15:guide>
        <p15:guide id="7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1141" y="1478542"/>
            <a:ext cx="8749718" cy="2669794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ru-RU" sz="4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Разработка системы для автоматизированной оценки состояния технологического оборудования с применением глубокого обучения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7996" y="4544615"/>
            <a:ext cx="7456008" cy="1811797"/>
          </a:xfrm>
        </p:spPr>
        <p:txBody>
          <a:bodyPr rtlCol="0">
            <a:normAutofit fontScale="25000" lnSpcReduction="20000"/>
          </a:bodyPr>
          <a:lstStyle/>
          <a:p>
            <a:pPr algn="ctr" rtl="0"/>
            <a:r>
              <a:rPr lang="ru-RU" sz="7200" dirty="0">
                <a:latin typeface="Century Gothic" panose="020B0502020202020204" pitchFamily="34" charset="0"/>
              </a:rPr>
              <a:t>Выполнил: студент группы ИВТ – 460, Щукин А. А.</a:t>
            </a:r>
          </a:p>
          <a:p>
            <a:pPr algn="ctr" rtl="0"/>
            <a:r>
              <a:rPr lang="ru-RU" sz="7200" dirty="0">
                <a:latin typeface="Century Gothic" panose="020B0502020202020204" pitchFamily="34" charset="0"/>
              </a:rPr>
              <a:t>Руководитель: доцент кафедры ЭВМ и Систем, </a:t>
            </a:r>
            <a:r>
              <a:rPr lang="ru-RU" sz="7200" dirty="0" err="1">
                <a:latin typeface="Century Gothic" panose="020B0502020202020204" pitchFamily="34" charset="0"/>
              </a:rPr>
              <a:t>Кравченя</a:t>
            </a:r>
            <a:r>
              <a:rPr lang="ru-RU" sz="7200" dirty="0">
                <a:latin typeface="Century Gothic" panose="020B0502020202020204" pitchFamily="34" charset="0"/>
              </a:rPr>
              <a:t> П. Д.</a:t>
            </a:r>
          </a:p>
          <a:p>
            <a:pPr algn="ctr" rtl="0"/>
            <a:r>
              <a:rPr lang="ru-RU" sz="7200" dirty="0">
                <a:latin typeface="Century Gothic" panose="020B0502020202020204" pitchFamily="34" charset="0"/>
              </a:rPr>
              <a:t>Волгоград, 2024</a:t>
            </a:r>
          </a:p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3" y="479426"/>
            <a:ext cx="11105859" cy="468530"/>
          </a:xfrm>
        </p:spPr>
        <p:txBody>
          <a:bodyPr anchor="ctr">
            <a:no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</a:rPr>
              <a:t>Актуальность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428684"/>
            <a:ext cx="11105859" cy="4529353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возрастающие объемы поступающих данных требуют автоматизации их обработки и анализа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Постоянная изменчивость данных приводит к необходимости постоянного переобучения модели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Инференс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и получение результата посредством веб сервиса (доступ по </a:t>
            </a:r>
            <a:r>
              <a:rPr lang="ru-RU" sz="2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http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, представление результатов с использованием стандартизированных протоколов) в отсутствии необходимости непосредственного доступа клиента к модели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современный подход к разработке и организации сложных систем (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ML</a:t>
            </a:r>
            <a:r>
              <a:rPr lang="ru-RU" sz="2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Ops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, 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D</a:t>
            </a:r>
            <a:r>
              <a:rPr lang="ru-RU" sz="2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evOps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и т.д.)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248400"/>
            <a:ext cx="3276600" cy="320677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1478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479426"/>
            <a:ext cx="11096982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Цели и задачи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0" y="1323475"/>
            <a:ext cx="11096982" cy="50551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Упрощение работы системного инженера, снижение влияния человеческого фактора и удешевление проекта с помощью автоматизации процессов анализа данных, полученных от технологического оборудования.</a:t>
            </a:r>
          </a:p>
          <a:p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Поставленные задачи: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осуществлять организованный сбор тестовых данных для обучения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1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помещать эти данные в общее хранилище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1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переобучать на этих данных и производить валидацию готовых моделей нейронных сетей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1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производить мониторинг на каждом этапе работы</a:t>
            </a:r>
            <a:r>
              <a:rPr lang="en-US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;</a:t>
            </a:r>
            <a:endParaRPr lang="ru-RU" sz="1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реализовать простейший веб-сервис для представления результатов работы моделей.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296025"/>
            <a:ext cx="3276600" cy="273052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3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3639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38" y="479426"/>
            <a:ext cx="11088104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Постановка задачи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38" y="1296205"/>
            <a:ext cx="11088104" cy="508236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Требуется разработать систему для автоматизированной оценки состояния технологического оборудования с применением глубокого обучения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Поскольку реально функционирующих датчиков нет, требуется эмулировать поступление данных от них с помощью разработанного скрипта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Эмулируемые данные должны представлять собой значения датчиков каждого технологического оборудования за промежуток времени (цикл), взятые из </a:t>
            </a:r>
            <a:r>
              <a:rPr lang="ru-RU" sz="20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датасета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“</a:t>
            </a:r>
            <a:r>
              <a:rPr lang="ru-RU" sz="20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Nasa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trurbofans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”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Программная система должна получать данные, преобразовывать их в формат 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j</a:t>
            </a:r>
            <a:r>
              <a:rPr lang="ru-RU" sz="20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son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и сохранять в хранилище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Программная система должна периодически вызывать скрипты для обработки данных, </a:t>
            </a:r>
            <a:r>
              <a:rPr lang="ru-RU" sz="20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дообучения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модели на новых данных и ее валидации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Программная система должна представлять результаты </a:t>
            </a:r>
            <a:r>
              <a:rPr lang="ru-RU" sz="20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инференса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модели с помощью </a:t>
            </a:r>
            <a:r>
              <a:rPr lang="ru-RU" sz="20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web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-сервиса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ru-RU" sz="20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305550"/>
            <a:ext cx="3276600" cy="263527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9679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38" y="479426"/>
            <a:ext cx="11088103" cy="468530"/>
          </a:xfrm>
        </p:spPr>
        <p:txBody>
          <a:bodyPr anchor="ctr">
            <a:noAutofit/>
          </a:bodyPr>
          <a:lstStyle/>
          <a:p>
            <a:r>
              <a:rPr lang="ru-RU" sz="36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Концептуальное проектирование системы</a:t>
            </a:r>
            <a:endParaRPr lang="ru-RU" sz="2000" dirty="0">
              <a:latin typeface="Century Gothic" panose="020B0502020202020204" pitchFamily="34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C7C0A90-3BB3-4FC0-AD0F-F9EB2D10D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2358" y="1210799"/>
            <a:ext cx="10976498" cy="5234735"/>
          </a:xfr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305550"/>
            <a:ext cx="3276600" cy="263527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5</a:t>
            </a:fld>
            <a:endParaRPr lang="ru-RU" sz="1200" noProof="0" dirty="0"/>
          </a:p>
        </p:txBody>
      </p:sp>
    </p:spTree>
    <p:extLst>
      <p:ext uri="{BB962C8B-B14F-4D97-AF65-F5344CB8AC3E}">
        <p14:creationId xmlns:p14="http://schemas.microsoft.com/office/powerpoint/2010/main" val="2037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39" y="479426"/>
            <a:ext cx="11088103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Организация поступления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39" y="1386840"/>
            <a:ext cx="4500978" cy="4991734"/>
          </a:xfrm>
        </p:spPr>
        <p:txBody>
          <a:bodyPr>
            <a:norm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Синхронные способы общения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– клиент ожидает ответ от службы</a:t>
            </a:r>
          </a:p>
          <a:p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- Низкая задержка</a:t>
            </a:r>
          </a:p>
          <a:p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- Малая пропускная способность</a:t>
            </a:r>
          </a:p>
          <a:p>
            <a:r>
              <a:rPr lang="ru-RU" sz="2000" b="1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Асинхронные способы общения</a:t>
            </a:r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– код клиента или отправители сообщения не ждут ответ</a:t>
            </a:r>
          </a:p>
          <a:p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- Средняя задержка</a:t>
            </a:r>
          </a:p>
          <a:p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- Высокая пропускная способность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286500"/>
            <a:ext cx="3276600" cy="282577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6</a:t>
            </a:fld>
            <a:endParaRPr lang="ru-RU" sz="1200" noProof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2DF1426-9377-43FC-A3E9-6319652F3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517" y="1386840"/>
            <a:ext cx="6634218" cy="347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9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479426"/>
            <a:ext cx="11096982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Организация поступления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0" y="1386840"/>
            <a:ext cx="11096981" cy="57912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Сравнение брокеров сообщений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276314"/>
            <a:ext cx="3276600" cy="292763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7</a:t>
            </a:fld>
            <a:endParaRPr lang="ru-RU" sz="1200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FB6D8A-0D92-4C7D-8006-F5A1C4206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989" y="1952200"/>
            <a:ext cx="8542022" cy="43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3" y="479426"/>
            <a:ext cx="11105859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Организация поступления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386840"/>
            <a:ext cx="5344357" cy="4405188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По итогу было решено выбирать из двух одних из самых популярных решений, 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RabbitMQ 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и 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Kafka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</a:p>
          <a:p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Проект является прототипом и высокая пропускная способность в нем не требуется, то выбор пал на более гибкий и простой в реализации 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RabbitMQ</a:t>
            </a:r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296025"/>
            <a:ext cx="3276600" cy="273052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8</a:t>
            </a:fld>
            <a:endParaRPr lang="ru-RU" sz="1200" noProof="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743D3F-C507-433C-A6F4-30BB07BFA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0" y="1386840"/>
            <a:ext cx="5821679" cy="477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6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99" y="479426"/>
            <a:ext cx="11096543" cy="468530"/>
          </a:xfrm>
        </p:spPr>
        <p:txBody>
          <a:bodyPr anchor="ctr">
            <a:noAutofit/>
          </a:bodyPr>
          <a:lstStyle/>
          <a:p>
            <a:r>
              <a:rPr lang="ru-RU" sz="4400" dirty="0">
                <a:solidFill>
                  <a:prstClr val="black"/>
                </a:solidFill>
                <a:latin typeface="Century Gothic" panose="020B0502020202020204" pitchFamily="34" charset="0"/>
              </a:rPr>
              <a:t>Способ хранения</a:t>
            </a:r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386840"/>
            <a:ext cx="8663941" cy="468530"/>
          </a:xfrm>
        </p:spPr>
        <p:txBody>
          <a:bodyPr>
            <a:normAutofit/>
          </a:bodyPr>
          <a:lstStyle/>
          <a:p>
            <a:endParaRPr lang="ru-RU" sz="24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2" y="6378574"/>
            <a:ext cx="3276600" cy="261176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9</a:t>
            </a:fld>
            <a:endParaRPr lang="ru-RU" sz="1200" noProof="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BD39DE4-0723-4355-8690-951D9CD43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906170"/>
              </p:ext>
            </p:extLst>
          </p:nvPr>
        </p:nvGraphicFramePr>
        <p:xfrm>
          <a:off x="533098" y="1174481"/>
          <a:ext cx="11096543" cy="5252910"/>
        </p:xfrm>
        <a:graphic>
          <a:graphicData uri="http://schemas.openxmlformats.org/drawingml/2006/table">
            <a:tbl>
              <a:tblPr/>
              <a:tblGrid>
                <a:gridCol w="1694029">
                  <a:extLst>
                    <a:ext uri="{9D8B030D-6E8A-4147-A177-3AD203B41FA5}">
                      <a16:colId xmlns:a16="http://schemas.microsoft.com/office/drawing/2014/main" val="1428648285"/>
                    </a:ext>
                  </a:extLst>
                </a:gridCol>
                <a:gridCol w="3165796">
                  <a:extLst>
                    <a:ext uri="{9D8B030D-6E8A-4147-A177-3AD203B41FA5}">
                      <a16:colId xmlns:a16="http://schemas.microsoft.com/office/drawing/2014/main" val="517552059"/>
                    </a:ext>
                  </a:extLst>
                </a:gridCol>
                <a:gridCol w="3911410">
                  <a:extLst>
                    <a:ext uri="{9D8B030D-6E8A-4147-A177-3AD203B41FA5}">
                      <a16:colId xmlns:a16="http://schemas.microsoft.com/office/drawing/2014/main" val="1847515758"/>
                    </a:ext>
                  </a:extLst>
                </a:gridCol>
                <a:gridCol w="2325308">
                  <a:extLst>
                    <a:ext uri="{9D8B030D-6E8A-4147-A177-3AD203B41FA5}">
                      <a16:colId xmlns:a16="http://schemas.microsoft.com/office/drawing/2014/main" val="1856962008"/>
                    </a:ext>
                  </a:extLst>
                </a:gridCol>
              </a:tblGrid>
              <a:tr h="260203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Аспект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База данных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Хранилище данных (</a:t>
                      </a:r>
                      <a:r>
                        <a:rPr lang="en-US" sz="1200" b="1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DWH)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Data Lake</a:t>
                      </a:r>
                      <a:r>
                        <a:rPr lang="ru-RU" sz="1200" b="1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 (</a:t>
                      </a:r>
                      <a:r>
                        <a:rPr lang="en-US" sz="1200" b="1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Object Storage)*</a:t>
                      </a:r>
                      <a:endParaRPr lang="ru-RU" sz="1200" b="1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042976"/>
                  </a:ext>
                </a:extLst>
              </a:tr>
              <a:tr h="47747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Структура данных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Хранит структурированные данные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Хранит как структурированные, так и </a:t>
                      </a:r>
                      <a:r>
                        <a:rPr lang="ru-RU" sz="1200" b="0" dirty="0" err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полуструктурированные</a:t>
                      </a:r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 данные.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Сырые необработанные данные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167361"/>
                  </a:ext>
                </a:extLst>
              </a:tr>
              <a:tr h="47747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Объем данных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Предназначен для небольших объемов данных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Создан для больших объемов исторических данных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Практически неограничен 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106060"/>
                  </a:ext>
                </a:extLst>
              </a:tr>
              <a:tr h="47747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Преобразование данных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Минимальное преобразование данных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Часто включает процессы ETL (извлечение, преобразование, загрузка).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Не требуется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474628"/>
                  </a:ext>
                </a:extLst>
              </a:tr>
              <a:tr h="47747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Сложность запроса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Подходит для простых транзакционных запросов.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Предназначен для сложных аналитических запросов.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Простой запрос данных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511137"/>
                  </a:ext>
                </a:extLst>
              </a:tr>
              <a:tr h="694739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Применение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Используется для повседневной работы.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Используется для бизнес-аналитики, анализа и отчетности.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Историческое хранение сырых данных </a:t>
                      </a:r>
                      <a:r>
                        <a:rPr lang="en-US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до востребования</a:t>
                      </a:r>
                      <a:r>
                        <a:rPr lang="en-US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084626"/>
                  </a:ext>
                </a:extLst>
              </a:tr>
              <a:tr h="633696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Задержка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Обеспечивает доступ к данным с низкой задержкой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Может иметь более высокую задержку из-за сложных запросов.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Высокая или очень высокая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437009"/>
                  </a:ext>
                </a:extLst>
              </a:tr>
              <a:tr h="506957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Масштабируемость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Обычно вертикально масштабируемый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Горизонтальное масштабирование для обеспечения роста объема данных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Хорошая горизонтальная масштабируемость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70636"/>
                  </a:ext>
                </a:extLst>
              </a:tr>
              <a:tr h="769965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Поддержка системы хранения</a:t>
                      </a:r>
                      <a:endParaRPr lang="ru-RU" sz="1200" b="0" dirty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Дорогая система хранения (из-за реляционной структуры)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Дорогая система хранения (из-за реляционной структуры)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Дешевая система хранения (так как данные хранятся в неизменном виде)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43064"/>
                  </a:ext>
                </a:extLst>
              </a:tr>
              <a:tr h="47747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Хранение Данных</a:t>
                      </a:r>
                      <a:endParaRPr lang="ru-RU" sz="1200" b="0">
                        <a:effectLst/>
                        <a:latin typeface="Century Gothic" panose="020B050202020202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Хранит последние и часто меняющиеся данные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Сохраняет исторические данные для анализа тенденций.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effectLst/>
                          <a:latin typeface="Century Gothic" panose="020B0502020202020204" pitchFamily="34" charset="0"/>
                          <a:cs typeface="Calibri Light" panose="020F0302020204030204" pitchFamily="34" charset="0"/>
                        </a:rPr>
                        <a:t>Хранит исторические данные без обработки</a:t>
                      </a:r>
                    </a:p>
                  </a:txBody>
                  <a:tcPr marL="28913" marR="30117" marT="18070" marB="1807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31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98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38" y="479426"/>
            <a:ext cx="11108924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Планировщик для запуска задач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38" y="1386840"/>
            <a:ext cx="11088103" cy="57912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Сравнение планировщиков запуска задач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1" y="6286500"/>
            <a:ext cx="3276600" cy="282577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10</a:t>
            </a:fld>
            <a:endParaRPr lang="ru-RU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6ED53D-6C16-4261-A8B8-72F1789EF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77" y="1988919"/>
            <a:ext cx="11113107" cy="39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4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479426"/>
            <a:ext cx="11096982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Технология организации </a:t>
            </a:r>
            <a:r>
              <a:rPr lang="en-US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web-</a:t>
            </a:r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сервиса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0" y="1386840"/>
            <a:ext cx="11096981" cy="4846320"/>
          </a:xfrm>
        </p:spPr>
        <p:txBody>
          <a:bodyPr>
            <a:normAutofit fontScale="92500"/>
          </a:bodyPr>
          <a:lstStyle/>
          <a:p>
            <a:r>
              <a:rPr lang="ru-RU" sz="2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Определим критерии для сравнения инструментов: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документация — насколько читабельна, полна и актуальна документация проекта;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комьюнити — наличие сообщества единомышленников-разработчиков, работающих с данной технологией и масштабы такого сообщества;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архитектура — насколько логично и в соответствии с паттернами проектирования построена структура фреймворка;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функциональность — встроенные возможности фреймворка, которые покрывают нужды разработчика без подключения сторонних модулей;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настройка — насколько фреймворк легко настроить и насколько управляем проект, работающий под фреймворком.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3041" y="6233160"/>
            <a:ext cx="3276600" cy="335917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1267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479426"/>
            <a:ext cx="11096982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Технология организации </a:t>
            </a:r>
            <a:r>
              <a:rPr lang="en-US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web-</a:t>
            </a:r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сервиса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48" y="3687673"/>
            <a:ext cx="11359300" cy="2104512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Для проекта был выбран </a:t>
            </a:r>
            <a:r>
              <a:rPr lang="en-US" sz="2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FastAPI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, так как он реализует стандарт </a:t>
            </a:r>
            <a:r>
              <a:rPr lang="en-US" sz="2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OpenAPI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, 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из коробки хорошо подходит для быстрого создания 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API 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и имеет удобную автоматическую документацию (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swagger)</a:t>
            </a: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12</a:t>
            </a:fld>
            <a:endParaRPr lang="ru-RU" noProof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3066F4-A53A-4C18-AB5B-322F4494F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48" y="1276670"/>
            <a:ext cx="11132304" cy="24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1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3" y="479426"/>
            <a:ext cx="11105859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Стек используемых технологий</a:t>
            </a:r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18E9523-4328-4FD9-A067-4C83450D7B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54" y="1157323"/>
            <a:ext cx="3057477" cy="128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13</a:t>
            </a:fld>
            <a:endParaRPr lang="ru-RU" noProof="0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576FAB0-763D-4380-B71F-7B648536A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72" y="3038321"/>
            <a:ext cx="2619449" cy="510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172950CD-A6DF-45BB-94CB-0CF51FE47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450" y="4132100"/>
            <a:ext cx="1940570" cy="140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0">
            <a:extLst>
              <a:ext uri="{FF2B5EF4-FFF2-40B4-BE49-F238E27FC236}">
                <a16:creationId xmlns:a16="http://schemas.microsoft.com/office/drawing/2014/main" id="{039B2453-7AAB-44EB-976C-A947BD2E6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9" y="4704515"/>
            <a:ext cx="2709013" cy="696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Lflow Models — MLflow 2.12.2 documentation">
            <a:extLst>
              <a:ext uri="{FF2B5EF4-FFF2-40B4-BE49-F238E27FC236}">
                <a16:creationId xmlns:a16="http://schemas.microsoft.com/office/drawing/2014/main" id="{A9F6EF66-B027-445B-93DB-CFB1C79AB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468" y="1330881"/>
            <a:ext cx="2147064" cy="78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0D6CC8A-586D-4550-932F-787C4533D1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7239" y="1312761"/>
            <a:ext cx="708205" cy="823495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3C11F23-7C37-4175-9A58-5784FE45C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428" y="2846398"/>
            <a:ext cx="2316104" cy="89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0510B9-AECB-4F01-A83A-67988705D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506" y="2749792"/>
            <a:ext cx="3273995" cy="48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326FE3-13D0-4920-B9BF-85F514CB07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86641" y="3293785"/>
            <a:ext cx="543001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3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479426"/>
            <a:ext cx="11096982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Проектирование системы</a:t>
            </a:r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D5C962CC-CB48-448B-9386-BA217A727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5429" y="1185821"/>
            <a:ext cx="9387838" cy="5383256"/>
          </a:xfr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0639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479426"/>
            <a:ext cx="11096982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Проектирование системы</a:t>
            </a:r>
            <a:endParaRPr lang="ru-RU" dirty="0">
              <a:latin typeface="Century Gothic" panose="020B0502020202020204" pitchFamily="34" charset="0"/>
            </a:endParaRP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55AED58E-1072-4904-AFFC-F0BA3B662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2660" y="1823775"/>
            <a:ext cx="11096982" cy="4353694"/>
          </a:xfr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15</a:t>
            </a:fld>
            <a:endParaRPr lang="ru-RU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BB714D-FC80-4478-9BC2-811E3A8934FD}"/>
              </a:ext>
            </a:extLst>
          </p:cNvPr>
          <p:cNvSpPr txBox="1"/>
          <p:nvPr/>
        </p:nvSpPr>
        <p:spPr>
          <a:xfrm>
            <a:off x="1813951" y="1297346"/>
            <a:ext cx="853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Моя часть проекта</a:t>
            </a:r>
            <a:endParaRPr lang="en-US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91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479426"/>
            <a:ext cx="11096982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Проектирование системы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0" y="1341119"/>
            <a:ext cx="2883640" cy="4894581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Диаграмма последовательности</a:t>
            </a:r>
          </a:p>
          <a:p>
            <a:endParaRPr lang="ru-RU" sz="20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16</a:t>
            </a:fld>
            <a:endParaRPr lang="ru-RU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50A497-0ECD-4DE9-8602-351AF7511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002" y="1139647"/>
            <a:ext cx="8344640" cy="528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479426"/>
            <a:ext cx="11079226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Поступление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6" y="1173480"/>
            <a:ext cx="2361945" cy="4724399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Use-Case </a:t>
            </a: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диаграмма</a:t>
            </a: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17</a:t>
            </a:fld>
            <a:endParaRPr lang="ru-RU" noProof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3808AE-020F-4F9C-8465-5A7E55D6F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883" y="1173480"/>
            <a:ext cx="8491759" cy="52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7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479426"/>
            <a:ext cx="11079226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Поступление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18</a:t>
            </a:fld>
            <a:endParaRPr lang="ru-RU" noProof="0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8B1C0BC-257C-4111-B7B8-6BD88FCED37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2" y="1173480"/>
            <a:ext cx="6503530" cy="727891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Процесс моделирования данных</a:t>
            </a: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2D3D9D-1018-4B79-BFDE-9FF7BBD54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60" y="1803400"/>
            <a:ext cx="9786021" cy="484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6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479426"/>
            <a:ext cx="11079226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Поступление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19</a:t>
            </a:fld>
            <a:endParaRPr lang="ru-RU" noProof="0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8B1C0BC-257C-4111-B7B8-6BD88FCED37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2" y="1173480"/>
            <a:ext cx="6503530" cy="727891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Процесс сохранения данных в 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S3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F0B409-D0AA-441D-92DD-EF1B03687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733" y="1675521"/>
            <a:ext cx="7808534" cy="518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2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479426"/>
            <a:ext cx="11079226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Поступление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3" y="1174918"/>
            <a:ext cx="3003669" cy="4724399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Диаграмма последовательности</a:t>
            </a:r>
          </a:p>
          <a:p>
            <a:pPr algn="ctr"/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20</a:t>
            </a:fld>
            <a:endParaRPr lang="ru-RU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BED000-3097-4AF6-89D3-92455A8F3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699" y="1325474"/>
            <a:ext cx="7945887" cy="457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4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479426"/>
            <a:ext cx="11079226" cy="468530"/>
          </a:xfrm>
        </p:spPr>
        <p:txBody>
          <a:bodyPr anchor="ctr">
            <a:noAutofit/>
          </a:bodyPr>
          <a:lstStyle/>
          <a:p>
            <a:r>
              <a:rPr lang="ru-RU" sz="44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Поступление данных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5" y="1173480"/>
            <a:ext cx="2423604" cy="5205094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Диаграмма классов</a:t>
            </a: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21</a:t>
            </a:fld>
            <a:endParaRPr lang="ru-RU" noProof="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7F9B30-4D06-4639-9C5F-A803335EE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581" y="1173480"/>
            <a:ext cx="7972328" cy="568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7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87718"/>
            <a:ext cx="11079226" cy="1047028"/>
          </a:xfrm>
        </p:spPr>
        <p:txBody>
          <a:bodyPr anchor="ctr">
            <a:noAutofit/>
          </a:bodyPr>
          <a:lstStyle/>
          <a:p>
            <a:r>
              <a:rPr lang="ru-RU" sz="32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Создание и </a:t>
            </a:r>
            <a:r>
              <a:rPr lang="ru-RU" sz="3200" cap="none" spc="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оркестрация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процессов </a:t>
            </a:r>
            <a:r>
              <a:rPr lang="ru-RU" sz="320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дообучения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и валидации</a:t>
            </a:r>
            <a:endParaRPr lang="ru-RU" sz="1800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5" y="1173480"/>
            <a:ext cx="11079226" cy="65532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Архитектура системы </a:t>
            </a:r>
            <a:r>
              <a:rPr lang="ru-RU" sz="28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дообучения</a:t>
            </a: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и валидации модели</a:t>
            </a: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22</a:t>
            </a:fld>
            <a:endParaRPr lang="ru-RU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3F39A1-0FF9-486A-8047-C0E02A5E9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965" y="1683856"/>
            <a:ext cx="9190125" cy="508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87718"/>
            <a:ext cx="11079226" cy="1047028"/>
          </a:xfrm>
        </p:spPr>
        <p:txBody>
          <a:bodyPr anchor="ctr">
            <a:noAutofit/>
          </a:bodyPr>
          <a:lstStyle/>
          <a:p>
            <a:r>
              <a:rPr lang="ru-RU" sz="32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Создание и </a:t>
            </a:r>
            <a:r>
              <a:rPr lang="ru-RU" sz="3200" cap="none" spc="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оркестрация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процессов </a:t>
            </a:r>
            <a:r>
              <a:rPr lang="ru-RU" sz="320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дообучения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и валидации</a:t>
            </a:r>
            <a:endParaRPr lang="ru-RU" sz="1800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5" y="1173480"/>
            <a:ext cx="4718271" cy="65532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Реализация 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Airflow DAG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23</a:t>
            </a:fld>
            <a:endParaRPr lang="ru-RU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BD133-7B03-46D6-93BA-E804CA312ED0}"/>
              </a:ext>
            </a:extLst>
          </p:cNvPr>
          <p:cNvSpPr txBox="1"/>
          <p:nvPr/>
        </p:nvSpPr>
        <p:spPr>
          <a:xfrm>
            <a:off x="6426271" y="1663965"/>
            <a:ext cx="5649615" cy="3693319"/>
          </a:xfrm>
          <a:prstGeom prst="rect">
            <a:avLst/>
          </a:prstGeom>
          <a:solidFill>
            <a:schemeClr val="accent1">
              <a:alpha val="16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/>
              <a:t>    </a:t>
            </a:r>
            <a:r>
              <a:rPr lang="ru-RU" b="1" dirty="0"/>
              <a:t>@task</a:t>
            </a:r>
            <a:r>
              <a:rPr lang="ru-RU" dirty="0"/>
              <a:t>(multiple_outputs=True, </a:t>
            </a:r>
            <a:r>
              <a:rPr lang="ru-RU" dirty="0" err="1"/>
              <a:t>task_id</a:t>
            </a:r>
            <a:r>
              <a:rPr lang="ru-RU" dirty="0"/>
              <a:t>=“</a:t>
            </a:r>
            <a:r>
              <a:rPr lang="en-US" dirty="0"/>
              <a:t>…</a:t>
            </a:r>
            <a:r>
              <a:rPr lang="ru-RU" dirty="0"/>
              <a:t>")</a:t>
            </a:r>
          </a:p>
          <a:p>
            <a:r>
              <a:rPr lang="ru-RU" dirty="0"/>
              <a:t>    </a:t>
            </a:r>
            <a:r>
              <a:rPr lang="ru-RU" dirty="0" err="1"/>
              <a:t>def</a:t>
            </a:r>
            <a:r>
              <a:rPr lang="ru-RU" dirty="0"/>
              <a:t> </a:t>
            </a:r>
            <a:r>
              <a:rPr lang="ru-RU" dirty="0" err="1"/>
              <a:t>preprocess_data</a:t>
            </a:r>
            <a:r>
              <a:rPr lang="ru-RU" dirty="0"/>
              <a:t>(</a:t>
            </a:r>
            <a:r>
              <a:rPr lang="ru-RU" dirty="0" err="1"/>
              <a:t>date_dir_path</a:t>
            </a:r>
            <a:r>
              <a:rPr lang="ru-RU" dirty="0"/>
              <a:t>) -&gt; </a:t>
            </a:r>
            <a:r>
              <a:rPr lang="ru-RU" dirty="0" err="1"/>
              <a:t>Dict</a:t>
            </a:r>
            <a:r>
              <a:rPr lang="ru-RU" dirty="0"/>
              <a:t>[</a:t>
            </a:r>
            <a:r>
              <a:rPr lang="ru-RU" dirty="0" err="1"/>
              <a:t>str</a:t>
            </a:r>
            <a:r>
              <a:rPr lang="ru-RU" dirty="0"/>
              <a:t>, </a:t>
            </a:r>
            <a:r>
              <a:rPr lang="ru-RU" dirty="0" err="1"/>
              <a:t>str</a:t>
            </a:r>
            <a:r>
              <a:rPr lang="ru-RU" dirty="0"/>
              <a:t>]:</a:t>
            </a:r>
          </a:p>
          <a:p>
            <a:r>
              <a:rPr lang="ru-RU" dirty="0"/>
              <a:t>        ...</a:t>
            </a:r>
          </a:p>
          <a:p>
            <a:endParaRPr lang="ru-RU" dirty="0"/>
          </a:p>
          <a:p>
            <a:r>
              <a:rPr lang="ru-RU" dirty="0"/>
              <a:t>    </a:t>
            </a:r>
            <a:r>
              <a:rPr lang="ru-RU" b="1" dirty="0"/>
              <a:t>@task</a:t>
            </a:r>
            <a:r>
              <a:rPr lang="ru-RU" dirty="0"/>
              <a:t>(task_id=“</a:t>
            </a:r>
            <a:r>
              <a:rPr lang="en-US" dirty="0"/>
              <a:t>…</a:t>
            </a:r>
            <a:r>
              <a:rPr lang="ru-RU" dirty="0"/>
              <a:t>")</a:t>
            </a:r>
          </a:p>
          <a:p>
            <a:r>
              <a:rPr lang="ru-RU" dirty="0"/>
              <a:t>    </a:t>
            </a:r>
            <a:r>
              <a:rPr lang="ru-RU" dirty="0" err="1"/>
              <a:t>def</a:t>
            </a:r>
            <a:r>
              <a:rPr lang="ru-RU" dirty="0"/>
              <a:t> </a:t>
            </a:r>
            <a:r>
              <a:rPr lang="ru-RU" dirty="0" err="1"/>
              <a:t>train_and_vaild_data</a:t>
            </a:r>
            <a:r>
              <a:rPr lang="ru-RU" dirty="0"/>
              <a:t>(</a:t>
            </a:r>
            <a:r>
              <a:rPr lang="ru-RU" dirty="0" err="1"/>
              <a:t>data_dirs</a:t>
            </a:r>
            <a:r>
              <a:rPr lang="ru-RU" dirty="0"/>
              <a:t>, </a:t>
            </a:r>
            <a:r>
              <a:rPr lang="ru-RU" sz="1600" dirty="0"/>
              <a:t>**</a:t>
            </a:r>
            <a:r>
              <a:rPr lang="ru-RU" dirty="0" err="1"/>
              <a:t>kwargs</a:t>
            </a:r>
            <a:r>
              <a:rPr lang="ru-RU" dirty="0"/>
              <a:t>):</a:t>
            </a:r>
          </a:p>
          <a:p>
            <a:r>
              <a:rPr lang="ru-RU" dirty="0"/>
              <a:t>        ...</a:t>
            </a:r>
          </a:p>
          <a:p>
            <a:r>
              <a:rPr lang="ru-RU" dirty="0"/>
              <a:t>    </a:t>
            </a:r>
          </a:p>
          <a:p>
            <a:r>
              <a:rPr lang="ru-RU" dirty="0"/>
              <a:t>    </a:t>
            </a:r>
            <a:r>
              <a:rPr lang="ru-RU" dirty="0" err="1"/>
              <a:t>jsons_dir_path</a:t>
            </a:r>
            <a:r>
              <a:rPr lang="ru-RU" dirty="0"/>
              <a:t> = get_jsons_from_s3_to_local()</a:t>
            </a:r>
          </a:p>
          <a:p>
            <a:r>
              <a:rPr lang="ru-RU" dirty="0"/>
              <a:t>    </a:t>
            </a:r>
            <a:r>
              <a:rPr lang="ru-RU" dirty="0" err="1"/>
              <a:t>preprocess_data_dirs</a:t>
            </a:r>
            <a:r>
              <a:rPr lang="ru-RU" dirty="0"/>
              <a:t> = </a:t>
            </a:r>
            <a:r>
              <a:rPr lang="ru-RU" dirty="0" err="1"/>
              <a:t>preprocess_data</a:t>
            </a:r>
            <a:r>
              <a:rPr lang="ru-RU" dirty="0"/>
              <a:t>(</a:t>
            </a:r>
            <a:r>
              <a:rPr lang="ru-RU" dirty="0" err="1"/>
              <a:t>jsons</a:t>
            </a:r>
            <a:r>
              <a:rPr lang="en-US" dirty="0"/>
              <a:t>…</a:t>
            </a:r>
            <a:r>
              <a:rPr lang="ru-RU" dirty="0"/>
              <a:t>)</a:t>
            </a:r>
          </a:p>
          <a:p>
            <a:r>
              <a:rPr lang="ru-RU" dirty="0"/>
              <a:t>    </a:t>
            </a:r>
            <a:r>
              <a:rPr lang="ru-RU" dirty="0" err="1"/>
              <a:t>rmse_metric</a:t>
            </a:r>
            <a:r>
              <a:rPr lang="ru-RU" dirty="0"/>
              <a:t> = </a:t>
            </a:r>
            <a:r>
              <a:rPr lang="ru-RU" dirty="0" err="1"/>
              <a:t>train_and_vaild_data</a:t>
            </a:r>
            <a:r>
              <a:rPr lang="ru-RU" dirty="0"/>
              <a:t>(</a:t>
            </a:r>
            <a:r>
              <a:rPr lang="ru-RU" dirty="0" err="1"/>
              <a:t>preprocess</a:t>
            </a:r>
            <a:r>
              <a:rPr lang="en-US" dirty="0"/>
              <a:t>…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 err="1"/>
              <a:t>greet_dag</a:t>
            </a:r>
            <a:r>
              <a:rPr lang="ru-RU" dirty="0"/>
              <a:t> = </a:t>
            </a:r>
            <a:r>
              <a:rPr lang="ru-RU" dirty="0" err="1"/>
              <a:t>example_dag</a:t>
            </a:r>
            <a:r>
              <a:rPr lang="ru-RU" dirty="0"/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A3B20-11AE-4F55-9904-F887AA02CC58}"/>
              </a:ext>
            </a:extLst>
          </p:cNvPr>
          <p:cNvSpPr txBox="1"/>
          <p:nvPr/>
        </p:nvSpPr>
        <p:spPr>
          <a:xfrm>
            <a:off x="263758" y="1663965"/>
            <a:ext cx="6027058" cy="4801314"/>
          </a:xfrm>
          <a:prstGeom prst="rect">
            <a:avLst/>
          </a:prstGeom>
          <a:solidFill>
            <a:schemeClr val="accent1">
              <a:alpha val="15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/>
              <a:t>YESTURDEY = </a:t>
            </a:r>
            <a:r>
              <a:rPr lang="ru-RU" dirty="0" err="1"/>
              <a:t>date.today</a:t>
            </a:r>
            <a:r>
              <a:rPr lang="ru-RU" dirty="0"/>
              <a:t>() - </a:t>
            </a:r>
            <a:r>
              <a:rPr lang="ru-RU" dirty="0" err="1"/>
              <a:t>timedelta</a:t>
            </a:r>
            <a:r>
              <a:rPr lang="ru-RU" dirty="0"/>
              <a:t>(</a:t>
            </a:r>
            <a:r>
              <a:rPr lang="ru-RU" dirty="0" err="1"/>
              <a:t>days</a:t>
            </a:r>
            <a:r>
              <a:rPr lang="ru-RU" dirty="0"/>
              <a:t>=1)</a:t>
            </a:r>
          </a:p>
          <a:p>
            <a:endParaRPr lang="ru-RU" dirty="0"/>
          </a:p>
          <a:p>
            <a:r>
              <a:rPr lang="ru-RU" dirty="0" err="1"/>
              <a:t>default_args</a:t>
            </a:r>
            <a:r>
              <a:rPr lang="ru-RU" dirty="0"/>
              <a:t> = {'</a:t>
            </a:r>
            <a:r>
              <a:rPr lang="ru-RU" b="1" dirty="0" err="1"/>
              <a:t>owner</a:t>
            </a:r>
            <a:r>
              <a:rPr lang="ru-RU" dirty="0"/>
              <a:t>': '</a:t>
            </a:r>
            <a:r>
              <a:rPr lang="ru-RU" dirty="0" err="1"/>
              <a:t>airflow</a:t>
            </a:r>
            <a:r>
              <a:rPr lang="ru-RU" dirty="0"/>
              <a:t>', '</a:t>
            </a:r>
            <a:r>
              <a:rPr lang="ru-RU" b="1" dirty="0" err="1"/>
              <a:t>retries</a:t>
            </a:r>
            <a:r>
              <a:rPr lang="ru-RU" dirty="0"/>
              <a:t>': 5, </a:t>
            </a:r>
            <a:endParaRPr lang="en-US" dirty="0"/>
          </a:p>
          <a:p>
            <a:r>
              <a:rPr lang="en-US" dirty="0"/>
              <a:t>	          </a:t>
            </a:r>
            <a:r>
              <a:rPr lang="ru-RU" dirty="0"/>
              <a:t>'</a:t>
            </a:r>
            <a:r>
              <a:rPr lang="ru-RU" b="1" dirty="0" err="1"/>
              <a:t>retry_delay</a:t>
            </a:r>
            <a:r>
              <a:rPr lang="ru-RU" dirty="0"/>
              <a:t>': </a:t>
            </a:r>
            <a:r>
              <a:rPr lang="ru-RU" dirty="0" err="1"/>
              <a:t>timedelta</a:t>
            </a:r>
            <a:r>
              <a:rPr lang="ru-RU" dirty="0"/>
              <a:t>(</a:t>
            </a:r>
            <a:r>
              <a:rPr lang="ru-RU" dirty="0" err="1"/>
              <a:t>seconds</a:t>
            </a:r>
            <a:r>
              <a:rPr lang="ru-RU" dirty="0"/>
              <a:t>=5)}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/>
              <a:t>@dag</a:t>
            </a:r>
            <a:r>
              <a:rPr lang="ru-RU" dirty="0"/>
              <a:t>(</a:t>
            </a:r>
          </a:p>
          <a:p>
            <a:r>
              <a:rPr lang="ru-RU" dirty="0"/>
              <a:t>    </a:t>
            </a:r>
            <a:r>
              <a:rPr lang="ru-RU" dirty="0" err="1"/>
              <a:t>dag_id</a:t>
            </a:r>
            <a:r>
              <a:rPr lang="ru-RU" dirty="0"/>
              <a:t>='</a:t>
            </a:r>
            <a:r>
              <a:rPr lang="en-US" dirty="0"/>
              <a:t>…</a:t>
            </a:r>
            <a:r>
              <a:rPr lang="ru-RU" dirty="0"/>
              <a:t>',</a:t>
            </a:r>
          </a:p>
          <a:p>
            <a:r>
              <a:rPr lang="ru-RU" dirty="0"/>
              <a:t>    </a:t>
            </a:r>
            <a:r>
              <a:rPr lang="ru-RU" dirty="0" err="1"/>
              <a:t>default_args</a:t>
            </a:r>
            <a:r>
              <a:rPr lang="ru-RU" dirty="0"/>
              <a:t>=</a:t>
            </a:r>
            <a:r>
              <a:rPr lang="ru-RU" dirty="0" err="1"/>
              <a:t>default_args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start_date</a:t>
            </a:r>
            <a:r>
              <a:rPr lang="ru-RU" dirty="0"/>
              <a:t>=</a:t>
            </a:r>
            <a:r>
              <a:rPr lang="ru-RU" dirty="0" err="1"/>
              <a:t>datetime</a:t>
            </a:r>
            <a:r>
              <a:rPr lang="ru-RU" dirty="0"/>
              <a:t>(</a:t>
            </a:r>
            <a:r>
              <a:rPr lang="ru-RU" dirty="0" err="1"/>
              <a:t>YESTURDEY.year</a:t>
            </a:r>
            <a:r>
              <a:rPr lang="ru-RU" dirty="0"/>
              <a:t>,</a:t>
            </a:r>
            <a:endParaRPr lang="en-US" dirty="0"/>
          </a:p>
          <a:p>
            <a:r>
              <a:rPr lang="en-US" dirty="0"/>
              <a:t>	                       </a:t>
            </a:r>
            <a:r>
              <a:rPr lang="ru-RU" dirty="0" err="1"/>
              <a:t>YESTURDEY.month</a:t>
            </a:r>
            <a:r>
              <a:rPr lang="ru-RU" dirty="0"/>
              <a:t>,</a:t>
            </a:r>
            <a:endParaRPr lang="en-US" dirty="0"/>
          </a:p>
          <a:p>
            <a:r>
              <a:rPr lang="en-US" dirty="0"/>
              <a:t>		        </a:t>
            </a:r>
            <a:r>
              <a:rPr lang="ru-RU" dirty="0" err="1"/>
              <a:t>YESTURDEY.day</a:t>
            </a:r>
            <a:r>
              <a:rPr lang="ru-RU" dirty="0"/>
              <a:t>),</a:t>
            </a:r>
          </a:p>
          <a:p>
            <a:r>
              <a:rPr lang="ru-RU" dirty="0"/>
              <a:t>    </a:t>
            </a:r>
            <a:r>
              <a:rPr lang="ru-RU" dirty="0" err="1"/>
              <a:t>schedule_interval</a:t>
            </a:r>
            <a:r>
              <a:rPr lang="ru-RU" dirty="0"/>
              <a:t>="</a:t>
            </a:r>
            <a:r>
              <a:rPr lang="ru-RU" b="1" dirty="0"/>
              <a:t>@</a:t>
            </a:r>
            <a:r>
              <a:rPr lang="ru-RU" b="1" dirty="0" err="1"/>
              <a:t>daily</a:t>
            </a:r>
            <a:r>
              <a:rPr lang="ru-RU" dirty="0"/>
              <a:t>")</a:t>
            </a:r>
          </a:p>
          <a:p>
            <a:r>
              <a:rPr lang="ru-RU" dirty="0" err="1"/>
              <a:t>def</a:t>
            </a:r>
            <a:r>
              <a:rPr lang="ru-RU" dirty="0"/>
              <a:t> </a:t>
            </a:r>
            <a:r>
              <a:rPr lang="ru-RU" dirty="0" err="1"/>
              <a:t>example_dag</a:t>
            </a:r>
            <a:r>
              <a:rPr lang="ru-RU" dirty="0"/>
              <a:t>():</a:t>
            </a:r>
          </a:p>
          <a:p>
            <a:endParaRPr lang="ru-RU" dirty="0"/>
          </a:p>
          <a:p>
            <a:r>
              <a:rPr lang="ru-RU" dirty="0"/>
              <a:t>    </a:t>
            </a:r>
            <a:r>
              <a:rPr lang="ru-RU" b="1" dirty="0"/>
              <a:t>@task</a:t>
            </a:r>
            <a:r>
              <a:rPr lang="ru-RU" dirty="0"/>
              <a:t>(task_id=“</a:t>
            </a:r>
            <a:r>
              <a:rPr lang="en-US" dirty="0"/>
              <a:t>…</a:t>
            </a:r>
            <a:r>
              <a:rPr lang="ru-RU" dirty="0"/>
              <a:t>")</a:t>
            </a:r>
          </a:p>
          <a:p>
            <a:r>
              <a:rPr lang="ru-RU" dirty="0"/>
              <a:t>    </a:t>
            </a:r>
            <a:r>
              <a:rPr lang="ru-RU" dirty="0" err="1"/>
              <a:t>def</a:t>
            </a:r>
            <a:r>
              <a:rPr lang="ru-RU" dirty="0"/>
              <a:t> get_jsons_from_s3_to_local(**</a:t>
            </a:r>
            <a:r>
              <a:rPr lang="ru-RU" dirty="0" err="1"/>
              <a:t>kwargs</a:t>
            </a:r>
            <a:r>
              <a:rPr lang="ru-RU" dirty="0"/>
              <a:t>):</a:t>
            </a:r>
          </a:p>
          <a:p>
            <a:r>
              <a:rPr lang="ru-RU" dirty="0"/>
              <a:t>        ...</a:t>
            </a:r>
          </a:p>
        </p:txBody>
      </p:sp>
    </p:spTree>
    <p:extLst>
      <p:ext uri="{BB962C8B-B14F-4D97-AF65-F5344CB8AC3E}">
        <p14:creationId xmlns:p14="http://schemas.microsoft.com/office/powerpoint/2010/main" val="8734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87718"/>
            <a:ext cx="11079226" cy="1047028"/>
          </a:xfrm>
        </p:spPr>
        <p:txBody>
          <a:bodyPr anchor="ctr">
            <a:noAutofit/>
          </a:bodyPr>
          <a:lstStyle/>
          <a:p>
            <a:r>
              <a:rPr lang="ru-RU" sz="32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Создание и </a:t>
            </a:r>
            <a:r>
              <a:rPr lang="ru-RU" sz="3200" cap="none" spc="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оркестрация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процессов </a:t>
            </a:r>
            <a:r>
              <a:rPr lang="ru-RU" sz="320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дообучения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и валидации</a:t>
            </a:r>
            <a:endParaRPr lang="ru-RU" sz="1800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4" y="1173479"/>
            <a:ext cx="10959414" cy="62629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Проверка работоспособности 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DAG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24</a:t>
            </a:fld>
            <a:endParaRPr lang="ru-RU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9BB3A0-1B73-40BA-8846-6BB7C693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88" y="4183336"/>
            <a:ext cx="9126224" cy="231489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EF0F65-DBC7-4067-BB5C-4EADC03112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701"/>
          <a:stretch/>
        </p:blipFill>
        <p:spPr>
          <a:xfrm>
            <a:off x="566313" y="1658085"/>
            <a:ext cx="11047431" cy="245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32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87718"/>
            <a:ext cx="11079226" cy="1047028"/>
          </a:xfrm>
        </p:spPr>
        <p:txBody>
          <a:bodyPr anchor="ctr">
            <a:noAutofit/>
          </a:bodyPr>
          <a:lstStyle/>
          <a:p>
            <a:r>
              <a:rPr lang="ru-RU" sz="3200" cap="none" spc="0" dirty="0">
                <a:solidFill>
                  <a:prstClr val="black"/>
                </a:solidFill>
                <a:latin typeface="Century Gothic" panose="020B0502020202020204" pitchFamily="34" charset="0"/>
              </a:rPr>
              <a:t>Создание и </a:t>
            </a:r>
            <a:r>
              <a:rPr lang="ru-RU" sz="3200" cap="none" spc="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оркестрация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процессов </a:t>
            </a:r>
            <a:r>
              <a:rPr lang="ru-RU" sz="3200" dirty="0" err="1">
                <a:solidFill>
                  <a:prstClr val="black"/>
                </a:solidFill>
                <a:latin typeface="Century Gothic" panose="020B0502020202020204" pitchFamily="34" charset="0"/>
              </a:rPr>
              <a:t>дообучения</a:t>
            </a:r>
            <a:r>
              <a:rPr lang="ru-RU" sz="3200" dirty="0">
                <a:solidFill>
                  <a:prstClr val="black"/>
                </a:solidFill>
                <a:latin typeface="Century Gothic" panose="020B0502020202020204" pitchFamily="34" charset="0"/>
              </a:rPr>
              <a:t> и валидации</a:t>
            </a:r>
            <a:endParaRPr lang="ru-RU" sz="1800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4" y="1173479"/>
            <a:ext cx="10959414" cy="62629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Проверка корректности выполнения 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DAG</a:t>
            </a: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algn="ctr"/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25</a:t>
            </a:fld>
            <a:endParaRPr lang="ru-RU" noProof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DE98F1-2B9D-49E3-800F-02BB42635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488" y="1799770"/>
            <a:ext cx="6501082" cy="459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2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479426"/>
            <a:ext cx="11079226" cy="468530"/>
          </a:xfrm>
        </p:spPr>
        <p:txBody>
          <a:bodyPr anchor="ctr">
            <a:noAutofit/>
          </a:bodyPr>
          <a:lstStyle/>
          <a:p>
            <a:r>
              <a:rPr lang="ru-RU" sz="4400" dirty="0">
                <a:solidFill>
                  <a:prstClr val="black"/>
                </a:solidFill>
                <a:latin typeface="Century Gothic" panose="020B0502020202020204" pitchFamily="34" charset="0"/>
              </a:rPr>
              <a:t>Веб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-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сервис для </a:t>
            </a:r>
            <a:r>
              <a:rPr kumimoji="0" lang="ru-RU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инференса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3" y="1173480"/>
            <a:ext cx="5748787" cy="5024120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Ресурс: 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/predict/</a:t>
            </a:r>
          </a:p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Методы: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POST</a:t>
            </a:r>
          </a:p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Пример тела запроса: </a:t>
            </a:r>
            <a:endParaRPr lang="en-US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[ {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"unit number": "3",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"time in cycles": "1",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"operational setting 1": "-0.0001",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"operational setting 2": "0.0001",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"operational setting 3": "100.0",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…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} ]</a:t>
            </a:r>
            <a:endParaRPr lang="ru-RU" sz="24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26</a:t>
            </a:fld>
            <a:endParaRPr lang="ru-RU" noProof="0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684AF6B6-B678-4F80-9B26-30F20E0532DA}"/>
              </a:ext>
            </a:extLst>
          </p:cNvPr>
          <p:cNvSpPr txBox="1">
            <a:spLocks/>
          </p:cNvSpPr>
          <p:nvPr/>
        </p:nvSpPr>
        <p:spPr>
          <a:xfrm flipH="1">
            <a:off x="7445896" y="2565844"/>
            <a:ext cx="4078515" cy="3812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Пример тела ответа: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[ {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ru-RU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“</a:t>
            </a:r>
            <a:r>
              <a:rPr lang="en-US" sz="24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input_data</a:t>
            </a: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": […],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“predict": {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	3: “true”,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	4: “false”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},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       “error": “No error“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} ]</a:t>
            </a:r>
          </a:p>
        </p:txBody>
      </p:sp>
    </p:spTree>
    <p:extLst>
      <p:ext uri="{BB962C8B-B14F-4D97-AF65-F5344CB8AC3E}">
        <p14:creationId xmlns:p14="http://schemas.microsoft.com/office/powerpoint/2010/main" val="365535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479426"/>
            <a:ext cx="11079226" cy="468530"/>
          </a:xfrm>
        </p:spPr>
        <p:txBody>
          <a:bodyPr anchor="ctr">
            <a:noAutofit/>
          </a:bodyPr>
          <a:lstStyle/>
          <a:p>
            <a:r>
              <a:rPr lang="ru-RU" sz="4400" dirty="0">
                <a:solidFill>
                  <a:prstClr val="black"/>
                </a:solidFill>
                <a:latin typeface="Century Gothic" panose="020B0502020202020204" pitchFamily="34" charset="0"/>
              </a:rPr>
              <a:t>Веб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-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сервис для </a:t>
            </a:r>
            <a:r>
              <a:rPr kumimoji="0" lang="ru-RU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инференса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3" y="1173480"/>
            <a:ext cx="4034286" cy="1277620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Диаграмма классов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27</a:t>
            </a:fld>
            <a:endParaRPr lang="ru-RU" noProof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F90B16-5AFD-49A1-A272-BD6604542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324" y="1482326"/>
            <a:ext cx="7189263" cy="494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9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308915"/>
            <a:ext cx="11079226" cy="864565"/>
          </a:xfrm>
        </p:spPr>
        <p:txBody>
          <a:bodyPr anchor="ctr">
            <a:no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Веб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-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сервис для </a:t>
            </a:r>
            <a:r>
              <a:rPr kumimoji="0" lang="ru-RU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инференса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13" y="1173480"/>
            <a:ext cx="4034286" cy="563041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Алгоритм работы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28</a:t>
            </a:fld>
            <a:endParaRPr lang="ru-RU" sz="1200" noProof="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27C2778-B8AB-4C2D-978D-C375CD10B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062" y="1319687"/>
            <a:ext cx="6834188" cy="517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1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308915"/>
            <a:ext cx="11079226" cy="864565"/>
          </a:xfrm>
        </p:spPr>
        <p:txBody>
          <a:bodyPr anchor="ctr">
            <a:no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Результат работы системы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08" y="1173480"/>
            <a:ext cx="2986422" cy="5112224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Отправка тестовых данных пользователем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29</a:t>
            </a:fld>
            <a:endParaRPr lang="ru-RU" noProof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D64B29-A555-4C8D-9A01-CA190892A931}"/>
              </a:ext>
            </a:extLst>
          </p:cNvPr>
          <p:cNvPicPr/>
          <p:nvPr/>
        </p:nvPicPr>
        <p:blipFill rotWithShape="1">
          <a:blip r:embed="rId3"/>
          <a:srcRect t="19913" r="33257" b="9847"/>
          <a:stretch/>
        </p:blipFill>
        <p:spPr bwMode="auto">
          <a:xfrm>
            <a:off x="3450981" y="1173480"/>
            <a:ext cx="3965015" cy="56845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E4F911-7F77-47BB-B7BF-D4C8B5FC12A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681615" y="1173480"/>
            <a:ext cx="3682408" cy="568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1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308915"/>
            <a:ext cx="11079226" cy="864565"/>
          </a:xfrm>
        </p:spPr>
        <p:txBody>
          <a:bodyPr anchor="ctr">
            <a:no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Результат работы системы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08" y="1173480"/>
            <a:ext cx="2986422" cy="5112224"/>
          </a:xfrm>
        </p:spPr>
        <p:txBody>
          <a:bodyPr>
            <a:norm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Получение предсказания модели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30</a:t>
            </a:fld>
            <a:endParaRPr lang="ru-RU" noProof="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DBE3ADF-E18D-4C24-ABBB-7C20DA3A375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699" y="1315167"/>
            <a:ext cx="7933943" cy="46451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804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0ECDF-2558-46F0-B1F2-E1AD6A33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6" y="308915"/>
            <a:ext cx="11079226" cy="864565"/>
          </a:xfrm>
        </p:spPr>
        <p:txBody>
          <a:bodyPr anchor="ctr">
            <a:no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Заключение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50408" y="1173480"/>
            <a:ext cx="11091176" cy="5112224"/>
          </a:xfrm>
        </p:spPr>
        <p:txBody>
          <a:bodyPr>
            <a:normAutofit lnSpcReduction="10000"/>
          </a:bodyPr>
          <a:lstStyle/>
          <a:p>
            <a:pPr marL="514350" indent="-514350" algn="just"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Реализована система моделирования данных с датчиков оборудования и передачи их в объектное хранилище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на основе 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RabbitMQ</a:t>
            </a: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</a:p>
          <a:p>
            <a:pPr marL="514350" indent="-514350" algn="just"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Разработан сервис создания и оркестрации процессов </a:t>
            </a:r>
            <a:r>
              <a:rPr lang="ru-RU" sz="28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дообучения</a:t>
            </a: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и валидации модели на основе 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Apache Airflow</a:t>
            </a: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  <a:endParaRPr lang="en-US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  <a:p>
            <a:pPr marL="514350" indent="-514350" algn="just"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Реализован веб-сервис представления результатов </a:t>
            </a:r>
            <a:r>
              <a:rPr lang="ru-RU" sz="28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инференса</a:t>
            </a: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 модели на базе </a:t>
            </a:r>
            <a:r>
              <a:rPr lang="en-US" sz="2800" dirty="0" err="1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FastAPI</a:t>
            </a:r>
            <a:r>
              <a:rPr lang="en-US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.</a:t>
            </a:r>
          </a:p>
          <a:p>
            <a:pPr marL="514350" indent="-514350" algn="just"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Достигнута совместная работоспособность всех разработанных модулей.</a:t>
            </a:r>
          </a:p>
          <a:p>
            <a:pPr marL="514350" indent="-514350" algn="just">
              <a:buAutoNum type="arabicPeriod"/>
            </a:pPr>
            <a:endParaRPr lang="ru-RU" sz="2800" dirty="0">
              <a:solidFill>
                <a:schemeClr val="tx1"/>
              </a:solidFill>
              <a:latin typeface="Century Gothic" panose="020B0502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31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4408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2C741C7-D4DD-4ABF-9D02-B0AF260280A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538466" y="3000375"/>
            <a:ext cx="11091176" cy="1381125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Century Gothic" panose="020B0502020202020204" pitchFamily="34" charset="0"/>
                <a:cs typeface="Calibri Light" panose="020F0302020204030204" pitchFamily="34" charset="0"/>
              </a:rPr>
              <a:t>Спасибо за внимание!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F3730-4FD7-4121-B623-8789EF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ru-RU" noProof="0" dirty="0"/>
              <a:t>2024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DC4C2-76E8-4146-9E91-437FD78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50" y="6229350"/>
            <a:ext cx="3457192" cy="339727"/>
          </a:xfrm>
        </p:spPr>
        <p:txBody>
          <a:bodyPr/>
          <a:lstStyle/>
          <a:p>
            <a:pPr rtl="0"/>
            <a:fld id="{B5CEABB6-07DC-46E8-9B57-56EC44A396E5}" type="slidenum">
              <a:rPr lang="ru-RU" sz="1200" noProof="0" smtClean="0"/>
              <a:t>32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8401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2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WelcomeDoc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889724_Win32" id="{A47D2243-58B7-4EA1-AC61-F4DDB07AC155}" vid="{5B84BEAD-BCA6-42F5-9270-6ECA397995EE}"/>
    </a:ext>
  </a:extLst>
</a:theme>
</file>

<file path=ppt/theme/theme6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51</Template>
  <TotalTime>3641</TotalTime>
  <Words>5735</Words>
  <Application>Microsoft Office PowerPoint</Application>
  <PresentationFormat>Широкоэкранный</PresentationFormat>
  <Paragraphs>1180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32</vt:i4>
      </vt:variant>
    </vt:vector>
  </HeadingPairs>
  <TitlesOfParts>
    <vt:vector size="45" baseType="lpstr">
      <vt:lpstr>맑은 고딕</vt:lpstr>
      <vt:lpstr>-apple-system</vt:lpstr>
      <vt:lpstr>Arial</vt:lpstr>
      <vt:lpstr>Calibri</vt:lpstr>
      <vt:lpstr>Calibri Light</vt:lpstr>
      <vt:lpstr>Century Gothic</vt:lpstr>
      <vt:lpstr>Inter</vt:lpstr>
      <vt:lpstr>Segoe UI</vt:lpstr>
      <vt:lpstr>51</vt:lpstr>
      <vt:lpstr>Custom Design</vt:lpstr>
      <vt:lpstr>52</vt:lpstr>
      <vt:lpstr>1_Custom Design</vt:lpstr>
      <vt:lpstr>WelcomeDoc</vt:lpstr>
      <vt:lpstr>Разработка системы для автоматизированной оценки состояния технологического оборудования с применением глубокого обучения</vt:lpstr>
      <vt:lpstr>Актуальность</vt:lpstr>
      <vt:lpstr>Цели и задачи</vt:lpstr>
      <vt:lpstr>Постановка задачи</vt:lpstr>
      <vt:lpstr>Концептуальное проектирование системы</vt:lpstr>
      <vt:lpstr>Организация поступления данных</vt:lpstr>
      <vt:lpstr>Организация поступления данных</vt:lpstr>
      <vt:lpstr>Организация поступления данных</vt:lpstr>
      <vt:lpstr>Способ хранения данных</vt:lpstr>
      <vt:lpstr>Планировщик для запуска задач</vt:lpstr>
      <vt:lpstr>Технология организации web-сервиса</vt:lpstr>
      <vt:lpstr>Технология организации web-сервиса</vt:lpstr>
      <vt:lpstr>Стек используемых технологий</vt:lpstr>
      <vt:lpstr>Проектирование системы</vt:lpstr>
      <vt:lpstr>Проектирование системы</vt:lpstr>
      <vt:lpstr>Проектирование системы</vt:lpstr>
      <vt:lpstr>Поступление данных</vt:lpstr>
      <vt:lpstr>Поступление данных</vt:lpstr>
      <vt:lpstr>Поступление данных</vt:lpstr>
      <vt:lpstr>Поступление данных</vt:lpstr>
      <vt:lpstr>Поступление данных</vt:lpstr>
      <vt:lpstr>Создание и оркестрация процессов дообучения и валидации</vt:lpstr>
      <vt:lpstr>Создание и оркестрация процессов дообучения и валидации</vt:lpstr>
      <vt:lpstr>Создание и оркестрация процессов дообучения и валидации</vt:lpstr>
      <vt:lpstr>Создание и оркестрация процессов дообучения и валидации</vt:lpstr>
      <vt:lpstr>Веб-сервис для инференса</vt:lpstr>
      <vt:lpstr>Веб-сервис для инференса</vt:lpstr>
      <vt:lpstr>Веб-сервис для инференса</vt:lpstr>
      <vt:lpstr>Результат работы системы</vt:lpstr>
      <vt:lpstr>Результат работы системы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для автоматизированной оценки состояния технологического оборудования с применением глубокого обучения</dc:title>
  <dc:creator>Aleksandr Shchkin</dc:creator>
  <cp:lastModifiedBy>Aleksandr Shchkin</cp:lastModifiedBy>
  <cp:revision>137</cp:revision>
  <dcterms:created xsi:type="dcterms:W3CDTF">2024-05-13T11:47:12Z</dcterms:created>
  <dcterms:modified xsi:type="dcterms:W3CDTF">2024-06-23T20:59:53Z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